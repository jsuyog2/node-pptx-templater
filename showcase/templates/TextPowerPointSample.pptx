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2" r:id="rId5"/>
    <p:sldId id="261" r:id="rId6"/>
    <p:sldId id="260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1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17622-3337-4876-8367-A6938030AC6F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EC01E-554E-43A2-8622-42E1A38A2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671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EC01E-554E-43A2-8622-42E1A38A2CA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141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DB950-565D-8F7D-9794-6DC28D0C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DF62A-3AC9-DB20-B8E1-3B798AABE3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B0231F-C4F6-B5D3-FA12-BC05FFA55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82EE5-C090-7361-677E-D951EBFFCA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EC01E-554E-43A2-8622-42E1A38A2CA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357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EC6D0-E0E2-F6F4-8D64-20DA99CFB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7BF387-66B1-B56B-C9F8-F5AD149E5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C7174F-BA0A-66B2-198C-E7A59568C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846F0-7933-7F8A-C276-E04095B24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EC01E-554E-43A2-8622-42E1A38A2CA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106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B0007-992F-3251-6115-1E6DF186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D9CD66-3ED0-44E2-C93F-AD63736A1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7D7F9-5C33-8BC4-1179-D19AD5F24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FA2AF-1AE5-6818-CA10-28F0D50568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EC01E-554E-43A2-8622-42E1A38A2CA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138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6243E-D571-D3EF-E562-44DD4C9CC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4BC60E-6523-BECA-085B-2BB24D087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AB9D85-475A-9A90-1FF9-62FAC1FDF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623B9-5C6D-3EE9-67BC-3038F8750B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EC01E-554E-43A2-8622-42E1A38A2CA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942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D2DAD-2AA4-2A6A-A036-7372DF05F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C3A8D-D197-EEB7-3369-C17339D48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B75E74-5270-6A2C-EE3F-2B5B8E38A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C218E-972B-EADF-DB23-2DC009BE1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EC01E-554E-43A2-8622-42E1A38A2CA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720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2937C-275E-D487-6EE1-3A8381BEC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346D27-8D65-06DE-8EFF-BC311DC5E4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1580E8-AB3A-4AEF-3A07-B948E7E71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3D0A1-B598-47E6-82EC-B7A962AF5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EC01E-554E-43A2-8622-42E1A38A2CA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255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30001-8C43-300C-CB00-EE594FDC8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138B99-8F2E-BF21-AA47-96EE0622A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87D41-25C9-24CB-EE30-CB7F99861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57A30-9B79-4E91-BB6B-520FC18C02AF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780E6-0106-A1E7-8F5A-2A446D3FA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7F96A-2134-6FB3-352B-A61B11E7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6EA59-C0C9-437C-A3A7-F6EC9F2EB2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071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7B3C8-85D7-A280-CAC3-EFD1637DF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AB62A-7E42-936C-2E7F-A5699FFB0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168BE-BD41-A663-6882-92961664B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57A30-9B79-4E91-BB6B-520FC18C02AF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CC6D1-7634-01DB-A3F1-2887EAF38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7E284-68A1-3837-E837-C0666D1DE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6EA59-C0C9-437C-A3A7-F6EC9F2EB2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363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B0D9-F73F-B7C7-F681-DC5C1FB82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A9781-2E74-6503-A022-C82F55046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E2FC5-8888-225D-D0FE-FA943D429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57A30-9B79-4E91-BB6B-520FC18C02AF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3EE7B-50F9-DDAA-4158-922A3AE39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4CD21-4FBC-4783-BA3B-FBA102C7E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6EA59-C0C9-437C-A3A7-F6EC9F2EB2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001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9C7E9-3615-938C-8787-1B391D1FA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A9E3E-D4A5-0AD7-93F9-2AB7D0EA4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3B94E-6043-5359-C9F5-2ADF0EC05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43E73-76C8-F862-9D58-F84FDD769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57A30-9B79-4E91-BB6B-520FC18C02AF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7CD192-85CE-6C26-C0C5-37F16685A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109E8-092C-5C02-6BE5-EE15A9F1D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6EA59-C0C9-437C-A3A7-F6EC9F2EB2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376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F2D5C-C005-21DE-D5A3-7623B07C3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73238-57B2-BB09-0A8F-3E0756D51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8DFD26-EF6F-D013-AE00-91FE1650F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D3DAD2-D71D-00D2-C6F2-AE8F55F058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70B4FF-FEDD-61D2-BA26-E3A554CE1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69524B-5AC5-917A-8593-2BAE60FD6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57A30-9B79-4E91-BB6B-520FC18C02AF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EFD2A8-6A56-3182-CE08-240525528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BABC0A-F0D4-32E4-9B37-08F3ED525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6EA59-C0C9-437C-A3A7-F6EC9F2EB2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672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DBD6E-3B03-5942-5E1E-0DD9BA186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212193-CB2F-E395-BEA5-71C6C7FCA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57A30-9B79-4E91-BB6B-520FC18C02AF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23D3AE-F33B-794E-135D-97768B7E9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1A7210-87ED-2C9D-5222-D659BBA16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6EA59-C0C9-437C-A3A7-F6EC9F2EB2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091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1A35A4-03EB-C2D0-1376-C4F037471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57A30-9B79-4E91-BB6B-520FC18C02AF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648A52-377E-BE2F-4CD3-F7F1C1CE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947E4-847E-59A7-027C-616703F0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6EA59-C0C9-437C-A3A7-F6EC9F2EB2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774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F393A-76A7-60BE-2D00-5905AC7E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D80A7-CF63-7D62-E1C7-BE2A87AE1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B8B738-5DDA-6896-EFDF-2442E64DB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DBCF7-00DA-8B9D-4DD7-B62C62795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57A30-9B79-4E91-BB6B-520FC18C02AF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F3FB2-E2D1-CA97-3AD2-205C47AAF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3B7AE-AB56-5DCC-CCF4-4F6A02F1F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6EA59-C0C9-437C-A3A7-F6EC9F2EB2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554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E6B2B-C066-02B1-98F3-E1CA6C351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92F74E-7B84-304E-A5F0-581643A2EE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D63F0-B464-6084-1272-B086EF642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22EF6A-21E0-3C02-4611-109711DA7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57A30-9B79-4E91-BB6B-520FC18C02AF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23527-D91C-86FD-86DB-21F4BDE65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A4131-2E14-57C7-BE0C-0086548E9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6EA59-C0C9-437C-A3A7-F6EC9F2EB2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831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11A93-A95C-30DC-2DCA-1D5A792BA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3F2334-79E0-B625-248E-5C6AF6F3D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61BFE-9DD0-E316-B229-3426F6699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57A30-9B79-4E91-BB6B-520FC18C02AF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55FDF-CE28-81A9-9F94-956D7DB5B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AB122-8675-DBDD-5D80-028EFA532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6EA59-C0C9-437C-A3A7-F6EC9F2EB2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481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61A3AE-A516-7DD0-06B8-E016D185EB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59CA33-7242-B470-4A03-B0DDDD1D7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43AF-77C0-0F3D-B874-4028CFA6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57A30-9B79-4E91-BB6B-520FC18C02AF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A58FC-09AF-4B7F-F6E5-DB2625D2D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0852E-9DB7-C975-DB5C-E5D0CC981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6EA59-C0C9-437C-A3A7-F6EC9F2EB2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497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11BA44-D16C-D06E-588B-812588B91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945C8-8992-29A0-55B2-18869EA9B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6F427-13BB-F7E2-C1D1-767FC830EC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57A30-9B79-4E91-BB6B-520FC18C02AF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41DEA-6EAE-FE52-5BE8-252EC605D6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27C9E-E59D-229C-CC66-D165C5253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6EA59-C0C9-437C-A3A7-F6EC9F2EB2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684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">
            <a:extLst>
              <a:ext uri="{FF2B5EF4-FFF2-40B4-BE49-F238E27FC236}">
                <a16:creationId xmlns:a16="http://schemas.microsoft.com/office/drawing/2014/main" id="{FFA996DE-F0DE-45BC-C522-DAB20DA52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595657"/>
          </a:xfrm>
        </p:spPr>
        <p:txBody>
          <a:bodyPr/>
          <a:lstStyle/>
          <a:p>
            <a:r>
              <a:rPr lang="en-IN" dirty="0"/>
              <a:t>Replaces template placeholders across targeted slides.</a:t>
            </a:r>
          </a:p>
        </p:txBody>
      </p:sp>
      <p:sp>
        <p:nvSpPr>
          <p:cNvPr id="4" name="replaceText">
            <a:extLst>
              <a:ext uri="{FF2B5EF4-FFF2-40B4-BE49-F238E27FC236}">
                <a16:creationId xmlns:a16="http://schemas.microsoft.com/office/drawing/2014/main" id="{0B3BF8B8-E2A4-3777-0B37-68D28E8B6D48}"/>
              </a:ext>
            </a:extLst>
          </p:cNvPr>
          <p:cNvSpPr txBox="1">
            <a:spLocks/>
          </p:cNvSpPr>
          <p:nvPr/>
        </p:nvSpPr>
        <p:spPr>
          <a:xfrm>
            <a:off x="3689445" y="4878614"/>
            <a:ext cx="7664355" cy="104990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Replaces existing list items in a shape with a new set of bulleted or numbered items, preserving or updating bullet styling.</a:t>
            </a:r>
            <a:endParaRPr lang="en-IN" sz="1200" dirty="0"/>
          </a:p>
        </p:txBody>
      </p:sp>
      <p:sp>
        <p:nvSpPr>
          <p:cNvPr id="5" name="addText">
            <a:extLst>
              <a:ext uri="{FF2B5EF4-FFF2-40B4-BE49-F238E27FC236}">
                <a16:creationId xmlns:a16="http://schemas.microsoft.com/office/drawing/2014/main" id="{F9474F05-0C44-4D00-CB53-5437371458B4}"/>
              </a:ext>
            </a:extLst>
          </p:cNvPr>
          <p:cNvSpPr txBox="1">
            <a:spLocks/>
          </p:cNvSpPr>
          <p:nvPr/>
        </p:nvSpPr>
        <p:spPr>
          <a:xfrm>
            <a:off x="2697708" y="1102518"/>
            <a:ext cx="1983475" cy="57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Add Text:</a:t>
            </a:r>
          </a:p>
        </p:txBody>
      </p:sp>
      <p:sp>
        <p:nvSpPr>
          <p:cNvPr id="7" name="replaceTextByTag">
            <a:extLst>
              <a:ext uri="{FF2B5EF4-FFF2-40B4-BE49-F238E27FC236}">
                <a16:creationId xmlns:a16="http://schemas.microsoft.com/office/drawing/2014/main" id="{1670E52F-7DA6-5094-F802-27762EB71D1E}"/>
              </a:ext>
            </a:extLst>
          </p:cNvPr>
          <p:cNvSpPr txBox="1">
            <a:spLocks/>
          </p:cNvSpPr>
          <p:nvPr/>
        </p:nvSpPr>
        <p:spPr>
          <a:xfrm>
            <a:off x="1322696" y="5332863"/>
            <a:ext cx="2366749" cy="595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defPPr>
              <a:defRPr lang="en-US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/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IN" dirty="0" err="1"/>
              <a:t>replaceTextByTag</a:t>
            </a:r>
            <a:r>
              <a:rPr lang="en-IN" dirty="0"/>
              <a:t>: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CDDDCFC-B892-B6B3-840F-20FFDAA6B600}"/>
              </a:ext>
            </a:extLst>
          </p:cNvPr>
          <p:cNvSpPr txBox="1">
            <a:spLocks/>
          </p:cNvSpPr>
          <p:nvPr/>
        </p:nvSpPr>
        <p:spPr>
          <a:xfrm>
            <a:off x="1524000" y="3351414"/>
            <a:ext cx="9144000" cy="595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Replaces template placeholders {{across}} targeted slides.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BEBA90EC-3337-DFF7-09FF-81B0613B7802}"/>
              </a:ext>
            </a:extLst>
          </p:cNvPr>
          <p:cNvSpPr txBox="1">
            <a:spLocks/>
          </p:cNvSpPr>
          <p:nvPr/>
        </p:nvSpPr>
        <p:spPr>
          <a:xfrm>
            <a:off x="1524000" y="4044309"/>
            <a:ext cx="9144000" cy="595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Replaces {{template}} placeholders across targeted slides.</a:t>
            </a:r>
          </a:p>
        </p:txBody>
      </p:sp>
    </p:spTree>
    <p:extLst>
      <p:ext uri="{BB962C8B-B14F-4D97-AF65-F5344CB8AC3E}">
        <p14:creationId xmlns:p14="http://schemas.microsoft.com/office/powerpoint/2010/main" val="88965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51A4E-80C3-A886-8238-666695873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g Content Text">
            <a:extLst>
              <a:ext uri="{FF2B5EF4-FFF2-40B4-BE49-F238E27FC236}">
                <a16:creationId xmlns:a16="http://schemas.microsoft.com/office/drawing/2014/main" id="{6267BCF0-B81E-BC21-82B8-67772D401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956"/>
            <a:ext cx="10515600" cy="632208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For test: </a:t>
            </a:r>
            <a:r>
              <a:rPr lang="en-IN" b="1" dirty="0" err="1"/>
              <a:t>getTextElements</a:t>
            </a:r>
            <a:r>
              <a:rPr lang="en-IN" b="1" dirty="0"/>
              <a:t>, </a:t>
            </a:r>
            <a:r>
              <a:rPr lang="en-IN" b="1" dirty="0" err="1"/>
              <a:t>findText</a:t>
            </a:r>
            <a:r>
              <a:rPr lang="en-IN" b="1" dirty="0"/>
              <a:t>, </a:t>
            </a:r>
            <a:r>
              <a:rPr lang="en-IN" b="1" dirty="0" err="1"/>
              <a:t>getText</a:t>
            </a:r>
            <a:endParaRPr lang="en-IN" b="1" dirty="0"/>
          </a:p>
          <a:p>
            <a:pPr marL="0" indent="0">
              <a:buNone/>
            </a:pPr>
            <a:br>
              <a:rPr lang="en-IN" sz="1400" b="1" dirty="0"/>
            </a:br>
            <a:r>
              <a:rPr lang="en-IN" sz="1400" b="1" dirty="0"/>
              <a:t>🚀 Low-Level </a:t>
            </a:r>
            <a:r>
              <a:rPr lang="en-IN" sz="1400" b="1" dirty="0" err="1"/>
              <a:t>OpenXML</a:t>
            </a:r>
            <a:r>
              <a:rPr lang="en-IN" sz="1400" b="1" dirty="0"/>
              <a:t> &amp; Flat OPC PowerPoint Engine for Node.js</a:t>
            </a:r>
          </a:p>
          <a:p>
            <a:pPr marL="0" indent="0">
              <a:buNone/>
            </a:pPr>
            <a:r>
              <a:rPr lang="en-IN" sz="1400" b="1" dirty="0"/>
              <a:t>node-pptx-</a:t>
            </a:r>
            <a:r>
              <a:rPr lang="en-IN" sz="1400" b="1" dirty="0" err="1"/>
              <a:t>templater</a:t>
            </a:r>
            <a:r>
              <a:rPr lang="en-IN" sz="1400" dirty="0"/>
              <a:t> is an enterprise-grade, high-performance, spatial-aware PowerPoint </a:t>
            </a:r>
            <a:r>
              <a:rPr lang="en-IN" sz="1400" dirty="0" err="1"/>
              <a:t>OpenXML</a:t>
            </a:r>
            <a:r>
              <a:rPr lang="en-IN" sz="1400" dirty="0"/>
              <a:t> manipulation and templating engine built for </a:t>
            </a:r>
            <a:r>
              <a:rPr lang="en-IN" sz="1400" b="1" dirty="0"/>
              <a:t>Node.js (&gt;=20.12.0)</a:t>
            </a:r>
            <a:r>
              <a:rPr lang="en-IN" sz="1400" dirty="0"/>
              <a:t>, </a:t>
            </a:r>
            <a:r>
              <a:rPr lang="en-IN" sz="1400" b="1" dirty="0"/>
              <a:t>AWS Lambda</a:t>
            </a:r>
            <a:r>
              <a:rPr lang="en-IN" sz="1400" dirty="0"/>
              <a:t>, </a:t>
            </a:r>
            <a:r>
              <a:rPr lang="en-IN" sz="1400" b="1" dirty="0"/>
              <a:t>Cloudflare Workers</a:t>
            </a:r>
            <a:r>
              <a:rPr lang="en-IN" sz="1400" dirty="0"/>
              <a:t>, </a:t>
            </a:r>
            <a:r>
              <a:rPr lang="en-IN" sz="1400" b="1" dirty="0" err="1"/>
              <a:t>Vercel</a:t>
            </a:r>
            <a:r>
              <a:rPr lang="en-IN" sz="1400" b="1" dirty="0"/>
              <a:t> Edge</a:t>
            </a:r>
            <a:r>
              <a:rPr lang="en-IN" sz="1400" dirty="0"/>
              <a:t>, and </a:t>
            </a:r>
            <a:r>
              <a:rPr lang="en-IN" sz="1400" dirty="0" err="1"/>
              <a:t>containerless</a:t>
            </a:r>
            <a:r>
              <a:rPr lang="en-IN" sz="1400" dirty="0"/>
              <a:t> cloud environments.</a:t>
            </a:r>
          </a:p>
          <a:p>
            <a:pPr marL="0" indent="0">
              <a:buNone/>
            </a:pPr>
            <a:r>
              <a:rPr lang="en-IN" sz="1400" dirty="0"/>
              <a:t>Unlike legacy solutions that require spinning up heavyweight LibreOffice Docker containers (500MB+ images, 15-second cold starts), headless browser instances, or native Java runtimes, node-pptx-</a:t>
            </a:r>
            <a:r>
              <a:rPr lang="en-IN" sz="1400" dirty="0" err="1"/>
              <a:t>templater</a:t>
            </a:r>
            <a:r>
              <a:rPr lang="en-IN" sz="1400" dirty="0"/>
              <a:t> is </a:t>
            </a:r>
            <a:r>
              <a:rPr lang="en-IN" sz="1400" b="1" dirty="0"/>
              <a:t>100% pure JavaScript with zero native binary dependencies</a:t>
            </a:r>
            <a:r>
              <a:rPr lang="en-IN" sz="1400" dirty="0"/>
              <a:t>. It mutates and synthesizes </a:t>
            </a:r>
            <a:r>
              <a:rPr lang="en-IN" sz="1400" dirty="0" err="1"/>
              <a:t>OpenXML</a:t>
            </a:r>
            <a:r>
              <a:rPr lang="en-IN" sz="1400" dirty="0"/>
              <a:t> presentation packages entirely in memory without corrupting </a:t>
            </a:r>
            <a:r>
              <a:rPr lang="en-IN" sz="1400" dirty="0" err="1"/>
              <a:t>PresentationML</a:t>
            </a:r>
            <a:r>
              <a:rPr lang="en-IN" sz="1400" dirty="0"/>
              <a:t> relationships, layouts, or formatting.</a:t>
            </a:r>
          </a:p>
          <a:p>
            <a:pPr marL="0" indent="0">
              <a:buNone/>
            </a:pPr>
            <a:r>
              <a:rPr lang="en-IN" sz="1400" b="1" dirty="0"/>
              <a:t>🌟 Architectural Highlights</a:t>
            </a:r>
          </a:p>
          <a:p>
            <a:pPr marL="0" lvl="0" indent="0">
              <a:buNone/>
            </a:pPr>
            <a:r>
              <a:rPr lang="en-IN" sz="1400" b="1" dirty="0"/>
              <a:t>Multi-Format Polymorphic Ingestion:</a:t>
            </a:r>
            <a:r>
              <a:rPr lang="en-IN" sz="1400" dirty="0"/>
              <a:t> Seamlessly loads .pptx, .</a:t>
            </a:r>
            <a:r>
              <a:rPr lang="en-IN" sz="1400" dirty="0" err="1"/>
              <a:t>pptm</a:t>
            </a:r>
            <a:r>
              <a:rPr lang="en-IN" sz="1400" dirty="0"/>
              <a:t>, .</a:t>
            </a:r>
            <a:r>
              <a:rPr lang="en-IN" sz="1400" dirty="0" err="1"/>
              <a:t>potx</a:t>
            </a:r>
            <a:r>
              <a:rPr lang="en-IN" sz="1400" dirty="0"/>
              <a:t>, .</a:t>
            </a:r>
            <a:r>
              <a:rPr lang="en-IN" sz="1400" dirty="0" err="1"/>
              <a:t>potm</a:t>
            </a:r>
            <a:r>
              <a:rPr lang="en-IN" sz="1400" dirty="0"/>
              <a:t>, .</a:t>
            </a:r>
            <a:r>
              <a:rPr lang="en-IN" sz="1400" dirty="0" err="1"/>
              <a:t>ppsx</a:t>
            </a:r>
            <a:r>
              <a:rPr lang="en-IN" sz="1400" dirty="0"/>
              <a:t>, .</a:t>
            </a:r>
            <a:r>
              <a:rPr lang="en-IN" sz="1400" dirty="0" err="1"/>
              <a:t>ppsm</a:t>
            </a:r>
            <a:r>
              <a:rPr lang="en-IN" sz="1400" dirty="0"/>
              <a:t>, .</a:t>
            </a:r>
            <a:r>
              <a:rPr lang="en-IN" sz="1400" dirty="0" err="1"/>
              <a:t>ppam</a:t>
            </a:r>
            <a:r>
              <a:rPr lang="en-IN" sz="1400" dirty="0"/>
              <a:t>, legacy binary .ppt, OpenDocument .</a:t>
            </a:r>
            <a:r>
              <a:rPr lang="en-IN" sz="1400" dirty="0" err="1"/>
              <a:t>odp</a:t>
            </a:r>
            <a:r>
              <a:rPr lang="en-IN" sz="1400" dirty="0"/>
              <a:t>, raw ZIP buffers, uncompressed XML directories, remote HTTP/HTTPS URLs.</a:t>
            </a:r>
          </a:p>
          <a:p>
            <a:pPr marL="0" lvl="0" indent="0">
              <a:buNone/>
            </a:pPr>
            <a:r>
              <a:rPr lang="en-IN" sz="1400" b="1" dirty="0"/>
              <a:t>Microsoft Flat OPC XML Support (&lt;</a:t>
            </a:r>
            <a:r>
              <a:rPr lang="en-IN" sz="1400" b="1" dirty="0" err="1"/>
              <a:t>pkg:package</a:t>
            </a:r>
            <a:r>
              <a:rPr lang="en-IN" sz="1400" b="1" dirty="0"/>
              <a:t>&gt;):</a:t>
            </a:r>
            <a:r>
              <a:rPr lang="en-IN" sz="1400" dirty="0"/>
              <a:t> Ingest and export single-file XML presentations (sample.xml) directly with zero ZIP overhead. Decodes embedded base64 media and workbooks into the in-memory Virtual File System (VFS).</a:t>
            </a:r>
          </a:p>
          <a:p>
            <a:pPr marL="0" lvl="0" indent="0">
              <a:buNone/>
            </a:pPr>
            <a:r>
              <a:rPr lang="en-IN" sz="1400" b="1" dirty="0"/>
              <a:t>Template-Free Blank Deck Generation:</a:t>
            </a:r>
            <a:r>
              <a:rPr lang="en-IN" sz="1400" dirty="0"/>
              <a:t> Create pristine, valid </a:t>
            </a:r>
            <a:r>
              <a:rPr lang="en-IN" sz="1400" dirty="0" err="1"/>
              <a:t>OpenXML</a:t>
            </a:r>
            <a:r>
              <a:rPr lang="en-IN" sz="1400" dirty="0"/>
              <a:t> presentations from scratch with exact aspect ratios (16:9, 4:3, 16:10) or custom EMU/pixel dimensions without any template fixtures.</a:t>
            </a:r>
          </a:p>
          <a:p>
            <a:pPr marL="0" lvl="0" indent="0">
              <a:buNone/>
            </a:pPr>
            <a:r>
              <a:rPr lang="en-IN" sz="1400" b="1" dirty="0"/>
              <a:t>Anti-Corruption Run Fragment Healing:</a:t>
            </a:r>
            <a:r>
              <a:rPr lang="en-IN" sz="1400" dirty="0"/>
              <a:t> PowerPoint frequently splits placeholder tokens like {{COMPANY_NAME}} into disjoint &lt;</a:t>
            </a:r>
            <a:r>
              <a:rPr lang="en-IN" sz="1400" dirty="0" err="1"/>
              <a:t>a:r</a:t>
            </a:r>
            <a:r>
              <a:rPr lang="en-IN" sz="1400" dirty="0"/>
              <a:t>&gt; XML run nodes. Our AST paragraph normalizer merges split runs while preserving font styles, weights, </a:t>
            </a:r>
            <a:r>
              <a:rPr lang="en-IN" sz="1400" dirty="0" err="1"/>
              <a:t>colors</a:t>
            </a:r>
            <a:r>
              <a:rPr lang="en-IN" sz="1400" dirty="0"/>
              <a:t>, and layout intact.</a:t>
            </a:r>
          </a:p>
          <a:p>
            <a:pPr marL="0" lvl="0" indent="0">
              <a:buNone/>
            </a:pPr>
            <a:r>
              <a:rPr lang="en-IN" sz="1400" b="1" dirty="0"/>
              <a:t>Excel Dual-Sync Technology:</a:t>
            </a:r>
            <a:r>
              <a:rPr lang="en-IN" sz="1400" dirty="0"/>
              <a:t> Updating only XML chart series causes Microsoft Office to trigger "Repair Presentation" warnings when a user clicks "Edit Data in Excel". node-pptx-</a:t>
            </a:r>
            <a:r>
              <a:rPr lang="en-IN" sz="1400" dirty="0" err="1"/>
              <a:t>templater</a:t>
            </a:r>
            <a:r>
              <a:rPr lang="en-IN" sz="1400" dirty="0"/>
              <a:t> updates both </a:t>
            </a:r>
            <a:r>
              <a:rPr lang="en-IN" sz="1400" dirty="0" err="1"/>
              <a:t>DrawingML</a:t>
            </a:r>
            <a:r>
              <a:rPr lang="en-IN" sz="1400" dirty="0"/>
              <a:t> &lt;</a:t>
            </a:r>
            <a:r>
              <a:rPr lang="en-IN" sz="1400" dirty="0" err="1"/>
              <a:t>c:chartSpace</a:t>
            </a:r>
            <a:r>
              <a:rPr lang="en-IN" sz="1400" dirty="0"/>
              <a:t>&gt; series and embedded binary Excel workbooks (.xlsx) simultaneously.</a:t>
            </a:r>
          </a:p>
          <a:p>
            <a:pPr marL="0" lvl="0" indent="0">
              <a:buNone/>
            </a:pPr>
            <a:r>
              <a:rPr lang="en-IN" sz="1400" b="1" dirty="0"/>
              <a:t>Spatial Geometry &amp; Percentage Coordinates (0–100%):</a:t>
            </a:r>
            <a:r>
              <a:rPr lang="en-IN" sz="1400" dirty="0"/>
              <a:t> Position shapes, tables, charts, images, and text boxes using intuitive percentage strings (x: '10%', y: '50%', width: '80%') or numeric percentages (unit: '%') mapped precisely across canvas boundaries without rounding drift.</a:t>
            </a:r>
          </a:p>
          <a:p>
            <a:pPr marL="0" lvl="0" indent="0">
              <a:buNone/>
            </a:pPr>
            <a:r>
              <a:rPr lang="en-IN" sz="1400" b="1" dirty="0"/>
              <a:t>Non-Blocking In-Memory Lifecycles:</a:t>
            </a:r>
            <a:r>
              <a:rPr lang="en-IN" sz="1400" dirty="0"/>
              <a:t> Agile presentation synthesis without artificial validation hurdles. </a:t>
            </a:r>
            <a:r>
              <a:rPr lang="en-IN" sz="1400" dirty="0" err="1"/>
              <a:t>validatePresentation</a:t>
            </a:r>
            <a:r>
              <a:rPr lang="en-IN" sz="1400" dirty="0"/>
              <a:t>() serves as an on-demand, non-blocking diagnostic tool.</a:t>
            </a:r>
          </a:p>
          <a:p>
            <a:pPr marL="0" lvl="0" indent="0">
              <a:buNone/>
            </a:pPr>
            <a:r>
              <a:rPr lang="en-IN" sz="1400" b="1" dirty="0"/>
              <a:t>Spatial Geometry &amp; Z-Order Layering:</a:t>
            </a:r>
            <a:r>
              <a:rPr lang="en-IN" sz="1400" dirty="0"/>
              <a:t> Reorder visual stack depth (</a:t>
            </a:r>
            <a:r>
              <a:rPr lang="en-IN" sz="1400" dirty="0" err="1"/>
              <a:t>bringToFront</a:t>
            </a:r>
            <a:r>
              <a:rPr lang="en-IN" sz="1400" dirty="0"/>
              <a:t>, </a:t>
            </a:r>
            <a:r>
              <a:rPr lang="en-IN" sz="1400" dirty="0" err="1"/>
              <a:t>sendToBack</a:t>
            </a:r>
            <a:r>
              <a:rPr lang="en-IN" sz="1400" dirty="0"/>
              <a:t>, </a:t>
            </a:r>
            <a:r>
              <a:rPr lang="en-IN" sz="1400" dirty="0" err="1"/>
              <a:t>stepForward</a:t>
            </a:r>
            <a:r>
              <a:rPr lang="en-IN" sz="1400" dirty="0"/>
              <a:t>, </a:t>
            </a:r>
            <a:r>
              <a:rPr lang="en-IN" sz="1400" dirty="0" err="1"/>
              <a:t>stepBackward</a:t>
            </a:r>
            <a:r>
              <a:rPr lang="en-IN" sz="1400" dirty="0"/>
              <a:t>) and calculate coordinates using English Metric Units (EMU), pixels, inches, and </a:t>
            </a:r>
            <a:r>
              <a:rPr lang="en-IN" sz="1400" dirty="0" err="1"/>
              <a:t>millimeters</a:t>
            </a:r>
            <a:r>
              <a:rPr lang="en-IN" sz="1400" dirty="0"/>
              <a:t> with zero floating-point rounding drift.</a:t>
            </a:r>
          </a:p>
          <a:p>
            <a:pPr marL="0" lvl="0" indent="0">
              <a:buNone/>
            </a:pPr>
            <a:r>
              <a:rPr lang="en-IN" sz="1400" b="1" dirty="0"/>
              <a:t>Multi-Target Export &amp; Web Framework Streaming:</a:t>
            </a:r>
            <a:r>
              <a:rPr lang="en-IN" sz="1400" dirty="0"/>
              <a:t> Write to disk, compile to Node.js Buffer, </a:t>
            </a:r>
            <a:r>
              <a:rPr lang="en-IN" sz="1400" dirty="0" err="1"/>
              <a:t>ReadableStream</a:t>
            </a:r>
            <a:r>
              <a:rPr lang="en-IN" sz="1400" dirty="0"/>
              <a:t>, </a:t>
            </a:r>
            <a:r>
              <a:rPr lang="en-IN" sz="1400" dirty="0" err="1"/>
              <a:t>ArrayBuffer</a:t>
            </a:r>
            <a:r>
              <a:rPr lang="en-IN" sz="1400" dirty="0"/>
              <a:t>, Base64 / Data URI, export to Flat OPC XML string, stream directly to Express.js / </a:t>
            </a:r>
            <a:r>
              <a:rPr lang="en-IN" sz="1400" dirty="0" err="1"/>
              <a:t>Fastify</a:t>
            </a:r>
            <a:r>
              <a:rPr lang="en-IN" sz="1400" dirty="0"/>
              <a:t> responses, or emit Web Standard Response objects for Next.js Route Handlers and Edge workers.</a:t>
            </a:r>
          </a:p>
          <a:p>
            <a:pPr marL="0" lvl="0" indent="0">
              <a:buNone/>
            </a:pPr>
            <a:r>
              <a:rPr lang="en-IN" sz="1400" b="1" dirty="0"/>
              <a:t>Direct XML &amp; ZIP Extraction:</a:t>
            </a:r>
            <a:r>
              <a:rPr lang="en-IN" sz="1400" dirty="0"/>
              <a:t> Unpack presentations to raw directory trees with optional 2-space XML formatting (</a:t>
            </a:r>
            <a:r>
              <a:rPr lang="en-IN" sz="1400" dirty="0" err="1"/>
              <a:t>formatXml</a:t>
            </a:r>
            <a:r>
              <a:rPr lang="en-IN" sz="1400" dirty="0"/>
              <a:t>: true) for git inspection, or package directly to clean compressed ZIP archives.</a:t>
            </a:r>
          </a:p>
        </p:txBody>
      </p:sp>
    </p:spTree>
    <p:extLst>
      <p:ext uri="{BB962C8B-B14F-4D97-AF65-F5344CB8AC3E}">
        <p14:creationId xmlns:p14="http://schemas.microsoft.com/office/powerpoint/2010/main" val="2316610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472D0-360A-A8CC-C980-53002F6E6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move Text">
            <a:extLst>
              <a:ext uri="{FF2B5EF4-FFF2-40B4-BE49-F238E27FC236}">
                <a16:creationId xmlns:a16="http://schemas.microsoft.com/office/drawing/2014/main" id="{F0F5622D-94B0-BF40-2F67-988B880E4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956"/>
            <a:ext cx="10515600" cy="31610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Remove Text</a:t>
            </a:r>
          </a:p>
          <a:p>
            <a:pPr marL="0" indent="0">
              <a:buNone/>
            </a:pPr>
            <a:r>
              <a:rPr lang="en-IN" sz="1400" b="1" dirty="0"/>
              <a:t>Multi-Format Polymorphic Ingestion:</a:t>
            </a:r>
            <a:r>
              <a:rPr lang="en-IN" sz="1400" dirty="0"/>
              <a:t> Seamlessly loads .pptx, .</a:t>
            </a:r>
            <a:r>
              <a:rPr lang="en-IN" sz="1400" dirty="0" err="1"/>
              <a:t>pptm</a:t>
            </a:r>
            <a:r>
              <a:rPr lang="en-IN" sz="1400" dirty="0"/>
              <a:t>, .</a:t>
            </a:r>
            <a:r>
              <a:rPr lang="en-IN" sz="1400" dirty="0" err="1"/>
              <a:t>potx</a:t>
            </a:r>
            <a:r>
              <a:rPr lang="en-IN" sz="1400" dirty="0"/>
              <a:t>, .</a:t>
            </a:r>
            <a:r>
              <a:rPr lang="en-IN" sz="1400" dirty="0" err="1"/>
              <a:t>potm</a:t>
            </a:r>
            <a:r>
              <a:rPr lang="en-IN" sz="1400" dirty="0"/>
              <a:t>, .</a:t>
            </a:r>
            <a:r>
              <a:rPr lang="en-IN" sz="1400" dirty="0" err="1"/>
              <a:t>ppsx</a:t>
            </a:r>
            <a:r>
              <a:rPr lang="en-IN" sz="1400" dirty="0"/>
              <a:t>, .</a:t>
            </a:r>
            <a:r>
              <a:rPr lang="en-IN" sz="1400" dirty="0" err="1"/>
              <a:t>ppsm</a:t>
            </a:r>
            <a:r>
              <a:rPr lang="en-IN" sz="1400" dirty="0"/>
              <a:t>, .</a:t>
            </a:r>
            <a:r>
              <a:rPr lang="en-IN" sz="1400" dirty="0" err="1"/>
              <a:t>ppam</a:t>
            </a:r>
            <a:r>
              <a:rPr lang="en-IN" sz="1400" dirty="0"/>
              <a:t>, legacy binary .ppt, OpenDocument .</a:t>
            </a:r>
            <a:r>
              <a:rPr lang="en-IN" sz="1400" dirty="0" err="1"/>
              <a:t>odp</a:t>
            </a:r>
            <a:r>
              <a:rPr lang="en-IN" sz="1400" dirty="0"/>
              <a:t>, raw ZIP buffers, uncompressed XML directories, remote HTTP/HTTPS URLs.</a:t>
            </a:r>
          </a:p>
          <a:p>
            <a:pPr marL="0" lvl="0" indent="0">
              <a:buNone/>
            </a:pPr>
            <a:r>
              <a:rPr lang="en-IN" sz="1400" b="1" dirty="0"/>
              <a:t>Microsoft Flat OPC XML Support (&lt;</a:t>
            </a:r>
            <a:r>
              <a:rPr lang="en-IN" sz="1400" b="1" dirty="0" err="1"/>
              <a:t>pkg:package</a:t>
            </a:r>
            <a:r>
              <a:rPr lang="en-IN" sz="1400" b="1" dirty="0"/>
              <a:t>&gt;):</a:t>
            </a:r>
            <a:r>
              <a:rPr lang="en-IN" sz="1400" dirty="0"/>
              <a:t> Ingest and export single-file XML presentations (sample.xml) directly with zero ZIP overhead. Decodes embedded base64 media and workbooks into the in-memory Virtual File System (VFS).</a:t>
            </a:r>
          </a:p>
          <a:p>
            <a:pPr marL="0" lvl="0" indent="0">
              <a:buNone/>
            </a:pPr>
            <a:r>
              <a:rPr lang="en-IN" sz="1400" b="1" dirty="0"/>
              <a:t>Template-Free Blank Deck Generation:</a:t>
            </a:r>
            <a:r>
              <a:rPr lang="en-IN" sz="1400" dirty="0"/>
              <a:t> Create pristine, valid </a:t>
            </a:r>
            <a:r>
              <a:rPr lang="en-IN" sz="1400" dirty="0" err="1"/>
              <a:t>OpenXML</a:t>
            </a:r>
            <a:r>
              <a:rPr lang="en-IN" sz="1400" dirty="0"/>
              <a:t> presentations from scratch with exact aspect ratios (16:9, 4:3, 16:10) or custom EMU/pixel dimensions without any template fixtures.</a:t>
            </a:r>
          </a:p>
          <a:p>
            <a:pPr marL="0" lvl="0" indent="0">
              <a:buNone/>
            </a:pPr>
            <a:r>
              <a:rPr lang="en-IN" sz="1400" b="1" dirty="0"/>
              <a:t>Anti-Corruption Run Fragment Healing:</a:t>
            </a:r>
            <a:r>
              <a:rPr lang="en-IN" sz="1400" dirty="0"/>
              <a:t> PowerPoint frequently splits placeholder tokens like {{COMPANY_NAME}} into disjoint &lt;</a:t>
            </a:r>
            <a:r>
              <a:rPr lang="en-IN" sz="1400" dirty="0" err="1"/>
              <a:t>a:r</a:t>
            </a:r>
            <a:r>
              <a:rPr lang="en-IN" sz="1400" dirty="0"/>
              <a:t>&gt; XML run nodes. Our AST paragraph normalizer merges split runs while preserving font styles, weights, </a:t>
            </a:r>
            <a:r>
              <a:rPr lang="en-IN" sz="1400" dirty="0" err="1"/>
              <a:t>colors</a:t>
            </a:r>
            <a:r>
              <a:rPr lang="en-IN" sz="1400" dirty="0"/>
              <a:t>, and layout intact.</a:t>
            </a:r>
          </a:p>
          <a:p>
            <a:pPr marL="0" lvl="0" indent="0">
              <a:buNone/>
            </a:pPr>
            <a:r>
              <a:rPr lang="en-IN" sz="1400" b="1" dirty="0"/>
              <a:t>Excel Dual-Sync Technology:</a:t>
            </a:r>
            <a:r>
              <a:rPr lang="en-IN" sz="1400" dirty="0"/>
              <a:t> Updating only XML chart series causes Microsoft Office to trigger "Repair Presentation" warnings when a user clicks "Edit Data in Excel". node-pptx-</a:t>
            </a:r>
            <a:r>
              <a:rPr lang="en-IN" sz="1400" dirty="0" err="1"/>
              <a:t>templater</a:t>
            </a:r>
            <a:r>
              <a:rPr lang="en-IN" sz="1400" dirty="0"/>
              <a:t> updates both </a:t>
            </a:r>
            <a:r>
              <a:rPr lang="en-IN" sz="1400" dirty="0" err="1"/>
              <a:t>DrawingML</a:t>
            </a:r>
            <a:r>
              <a:rPr lang="en-IN" sz="1400" dirty="0"/>
              <a:t> &lt;</a:t>
            </a:r>
            <a:r>
              <a:rPr lang="en-IN" sz="1400" dirty="0" err="1"/>
              <a:t>c:chartSpace</a:t>
            </a:r>
            <a:r>
              <a:rPr lang="en-IN" sz="1400" dirty="0"/>
              <a:t>&gt; series and embedded binary Excel workbooks (.xlsx) simultaneously.</a:t>
            </a:r>
          </a:p>
        </p:txBody>
      </p:sp>
      <p:sp>
        <p:nvSpPr>
          <p:cNvPr id="2" name="Clear Text">
            <a:extLst>
              <a:ext uri="{FF2B5EF4-FFF2-40B4-BE49-F238E27FC236}">
                <a16:creationId xmlns:a16="http://schemas.microsoft.com/office/drawing/2014/main" id="{5CA1817A-2C05-BF84-E41C-DA112DB43CC3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3161044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5800" b="1" dirty="0"/>
              <a:t>Clear Text</a:t>
            </a:r>
            <a:br>
              <a:rPr lang="en-IN" b="1" dirty="0"/>
            </a:br>
            <a:br>
              <a:rPr lang="en-IN" b="1" dirty="0"/>
            </a:br>
            <a:r>
              <a:rPr lang="en-IN" b="1" dirty="0"/>
              <a:t>Spatial Geometry &amp; Percentage Coordinates (0–100%):</a:t>
            </a:r>
            <a:r>
              <a:rPr lang="en-IN" dirty="0"/>
              <a:t> Position shapes, tables, charts, images, and text boxes using intuitive percentage strings (x: '10%', y: '50%', width: '80%') or numeric percentages (unit: '%') mapped precisely across canvas boundaries without rounding drift.</a:t>
            </a:r>
            <a:endParaRPr lang="en-IN" sz="1400" dirty="0">
              <a:effectLst/>
            </a:endParaRPr>
          </a:p>
          <a:p>
            <a:pPr marL="0" indent="0">
              <a:buNone/>
            </a:pPr>
            <a:r>
              <a:rPr lang="en-IN" b="1" dirty="0"/>
              <a:t>Non-Blocking In-Memory Lifecycles:</a:t>
            </a:r>
            <a:r>
              <a:rPr lang="en-IN" dirty="0"/>
              <a:t> Agile presentation synthesis without artificial validation hurdles. </a:t>
            </a:r>
            <a:r>
              <a:rPr lang="en-IN" dirty="0" err="1"/>
              <a:t>validatePresentation</a:t>
            </a:r>
            <a:r>
              <a:rPr lang="en-IN" dirty="0"/>
              <a:t>() serves as an on-demand, non-blocking diagnostic tool.</a:t>
            </a:r>
            <a:endParaRPr lang="en-IN" sz="1400" dirty="0">
              <a:effectLst/>
            </a:endParaRPr>
          </a:p>
          <a:p>
            <a:pPr marL="0" indent="0">
              <a:buNone/>
            </a:pPr>
            <a:r>
              <a:rPr lang="en-IN" b="1" dirty="0"/>
              <a:t>Spatial Geometry &amp; Z-Order Layering:</a:t>
            </a:r>
            <a:r>
              <a:rPr lang="en-IN" dirty="0"/>
              <a:t> Reorder visual stack depth (</a:t>
            </a:r>
            <a:r>
              <a:rPr lang="en-IN" dirty="0" err="1"/>
              <a:t>bringToFront</a:t>
            </a:r>
            <a:r>
              <a:rPr lang="en-IN" dirty="0"/>
              <a:t>, </a:t>
            </a:r>
            <a:r>
              <a:rPr lang="en-IN" dirty="0" err="1"/>
              <a:t>sendToBack</a:t>
            </a:r>
            <a:r>
              <a:rPr lang="en-IN" dirty="0"/>
              <a:t>, </a:t>
            </a:r>
            <a:r>
              <a:rPr lang="en-IN" dirty="0" err="1"/>
              <a:t>stepForward</a:t>
            </a:r>
            <a:r>
              <a:rPr lang="en-IN" dirty="0"/>
              <a:t>, </a:t>
            </a:r>
            <a:r>
              <a:rPr lang="en-IN" dirty="0" err="1"/>
              <a:t>stepBackward</a:t>
            </a:r>
            <a:r>
              <a:rPr lang="en-IN" dirty="0"/>
              <a:t>) and calculate coordinates using English Metric Units (EMU), pixels, inches, and </a:t>
            </a:r>
            <a:r>
              <a:rPr lang="en-IN" dirty="0" err="1"/>
              <a:t>millimeters</a:t>
            </a:r>
            <a:r>
              <a:rPr lang="en-IN" dirty="0"/>
              <a:t> with zero floating-point rounding drift.</a:t>
            </a:r>
            <a:endParaRPr lang="en-IN" sz="1400" dirty="0">
              <a:effectLst/>
            </a:endParaRPr>
          </a:p>
          <a:p>
            <a:pPr marL="0" indent="0">
              <a:buNone/>
            </a:pPr>
            <a:r>
              <a:rPr lang="en-IN" b="1" dirty="0"/>
              <a:t>Multi-Target Export &amp; Web Framework Streaming:</a:t>
            </a:r>
            <a:r>
              <a:rPr lang="en-IN" dirty="0"/>
              <a:t> Write to disk, compile to Node.js Buffer, </a:t>
            </a:r>
            <a:r>
              <a:rPr lang="en-IN" dirty="0" err="1"/>
              <a:t>ReadableStream</a:t>
            </a:r>
            <a:r>
              <a:rPr lang="en-IN" dirty="0"/>
              <a:t>, </a:t>
            </a:r>
            <a:r>
              <a:rPr lang="en-IN" dirty="0" err="1"/>
              <a:t>ArrayBuffer</a:t>
            </a:r>
            <a:r>
              <a:rPr lang="en-IN" dirty="0"/>
              <a:t>, Base64 / Data URI, export to Flat OPC XML string, stream directly to Express.js / </a:t>
            </a:r>
            <a:r>
              <a:rPr lang="en-IN" dirty="0" err="1"/>
              <a:t>Fastify</a:t>
            </a:r>
            <a:r>
              <a:rPr lang="en-IN" dirty="0"/>
              <a:t> responses, or emit Web Standard Response objects for Next.js Route Handlers and Edge workers.</a:t>
            </a:r>
            <a:endParaRPr lang="en-IN" sz="1400" dirty="0">
              <a:effectLst/>
            </a:endParaRPr>
          </a:p>
          <a:p>
            <a:pPr marL="0" indent="0">
              <a:buNone/>
            </a:pPr>
            <a:r>
              <a:rPr lang="en-IN" b="1" dirty="0"/>
              <a:t>Direct XML &amp; ZIP Extraction:</a:t>
            </a:r>
            <a:r>
              <a:rPr lang="en-IN" dirty="0"/>
              <a:t> Unpack presentations to raw directory trees with optional 2-space XML formatting (</a:t>
            </a:r>
            <a:r>
              <a:rPr lang="en-IN" dirty="0" err="1"/>
              <a:t>formatXml</a:t>
            </a:r>
            <a:r>
              <a:rPr lang="en-IN" dirty="0"/>
              <a:t>: true) for git inspection, or package directly to clean compressed ZIP archives.</a:t>
            </a:r>
            <a:endParaRPr lang="en-IN" sz="1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59825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46A06-DE0D-AC48-969A-1FD734B3F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lace List">
            <a:extLst>
              <a:ext uri="{FF2B5EF4-FFF2-40B4-BE49-F238E27FC236}">
                <a16:creationId xmlns:a16="http://schemas.microsoft.com/office/drawing/2014/main" id="{B334F703-167B-B513-9888-1225CA95DED7}"/>
              </a:ext>
            </a:extLst>
          </p:cNvPr>
          <p:cNvSpPr txBox="1">
            <a:spLocks/>
          </p:cNvSpPr>
          <p:nvPr/>
        </p:nvSpPr>
        <p:spPr>
          <a:xfrm>
            <a:off x="838200" y="3696956"/>
            <a:ext cx="10515600" cy="274478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Adobe Garamond Pro Bold" panose="02020702060506020403" pitchFamily="18" charset="0"/>
              </a:rPr>
              <a:t>Spatial Geometry &amp; Percentage Coordinates (0–100%):</a:t>
            </a:r>
            <a:r>
              <a:rPr lang="en-IN" dirty="0">
                <a:latin typeface="Adobe Garamond Pro Bold" panose="02020702060506020403" pitchFamily="18" charset="0"/>
              </a:rPr>
              <a:t> Position shapes, tables, charts, images, and text boxes using intuitive percentage strings (x: '10%', y: '50%', width: '80%') or numeric percentages (unit: '%') mapped precisely across canvas boundaries without rounding drift.</a:t>
            </a:r>
            <a:endParaRPr lang="en-IN" sz="1400" dirty="0">
              <a:effectLst/>
              <a:latin typeface="Adobe Garamond Pro Bold" panose="02020702060506020403" pitchFamily="18" charset="0"/>
            </a:endParaRPr>
          </a:p>
          <a:p>
            <a:r>
              <a:rPr lang="en-IN" b="1" dirty="0">
                <a:latin typeface="Adobe Garamond Pro Bold" panose="02020702060506020403" pitchFamily="18" charset="0"/>
              </a:rPr>
              <a:t>Non-Blocking In-Memory Lifecycles:</a:t>
            </a:r>
            <a:r>
              <a:rPr lang="en-IN" dirty="0">
                <a:latin typeface="Adobe Garamond Pro Bold" panose="02020702060506020403" pitchFamily="18" charset="0"/>
              </a:rPr>
              <a:t> Agile presentation synthesis without artificial validation hurdles. </a:t>
            </a:r>
            <a:r>
              <a:rPr lang="en-IN" dirty="0" err="1">
                <a:latin typeface="Adobe Garamond Pro Bold" panose="02020702060506020403" pitchFamily="18" charset="0"/>
              </a:rPr>
              <a:t>validatePresentation</a:t>
            </a:r>
            <a:r>
              <a:rPr lang="en-IN" dirty="0">
                <a:latin typeface="Adobe Garamond Pro Bold" panose="02020702060506020403" pitchFamily="18" charset="0"/>
              </a:rPr>
              <a:t>() serves as an on-demand, non-blocking diagnostic tool.</a:t>
            </a:r>
            <a:endParaRPr lang="en-IN" sz="1400" dirty="0">
              <a:effectLst/>
              <a:latin typeface="Adobe Garamond Pro Bold" panose="02020702060506020403" pitchFamily="18" charset="0"/>
            </a:endParaRPr>
          </a:p>
          <a:p>
            <a:r>
              <a:rPr lang="en-IN" b="1" dirty="0">
                <a:latin typeface="Adobe Garamond Pro Bold" panose="02020702060506020403" pitchFamily="18" charset="0"/>
              </a:rPr>
              <a:t>Spatial Geometry &amp; Z-Order Layering:</a:t>
            </a:r>
            <a:r>
              <a:rPr lang="en-IN" dirty="0">
                <a:latin typeface="Adobe Garamond Pro Bold" panose="02020702060506020403" pitchFamily="18" charset="0"/>
              </a:rPr>
              <a:t> Reorder visual stack depth (</a:t>
            </a:r>
            <a:r>
              <a:rPr lang="en-IN" dirty="0" err="1">
                <a:latin typeface="Adobe Garamond Pro Bold" panose="02020702060506020403" pitchFamily="18" charset="0"/>
              </a:rPr>
              <a:t>bringToFront</a:t>
            </a:r>
            <a:r>
              <a:rPr lang="en-IN" dirty="0">
                <a:latin typeface="Adobe Garamond Pro Bold" panose="02020702060506020403" pitchFamily="18" charset="0"/>
              </a:rPr>
              <a:t>, </a:t>
            </a:r>
            <a:r>
              <a:rPr lang="en-IN" dirty="0" err="1">
                <a:latin typeface="Adobe Garamond Pro Bold" panose="02020702060506020403" pitchFamily="18" charset="0"/>
              </a:rPr>
              <a:t>sendToBack</a:t>
            </a:r>
            <a:r>
              <a:rPr lang="en-IN" dirty="0">
                <a:latin typeface="Adobe Garamond Pro Bold" panose="02020702060506020403" pitchFamily="18" charset="0"/>
              </a:rPr>
              <a:t>, </a:t>
            </a:r>
            <a:r>
              <a:rPr lang="en-IN" dirty="0" err="1">
                <a:latin typeface="Adobe Garamond Pro Bold" panose="02020702060506020403" pitchFamily="18" charset="0"/>
              </a:rPr>
              <a:t>stepForward</a:t>
            </a:r>
            <a:r>
              <a:rPr lang="en-IN" dirty="0">
                <a:latin typeface="Adobe Garamond Pro Bold" panose="02020702060506020403" pitchFamily="18" charset="0"/>
              </a:rPr>
              <a:t>, </a:t>
            </a:r>
            <a:r>
              <a:rPr lang="en-IN" dirty="0" err="1">
                <a:latin typeface="Adobe Garamond Pro Bold" panose="02020702060506020403" pitchFamily="18" charset="0"/>
              </a:rPr>
              <a:t>stepBackward</a:t>
            </a:r>
            <a:r>
              <a:rPr lang="en-IN" dirty="0">
                <a:latin typeface="Adobe Garamond Pro Bold" panose="02020702060506020403" pitchFamily="18" charset="0"/>
              </a:rPr>
              <a:t>) and calculate coordinates using English Metric Units (EMU), pixels, inches, and </a:t>
            </a:r>
            <a:r>
              <a:rPr lang="en-IN" dirty="0" err="1">
                <a:latin typeface="Adobe Garamond Pro Bold" panose="02020702060506020403" pitchFamily="18" charset="0"/>
              </a:rPr>
              <a:t>millimeters</a:t>
            </a:r>
            <a:r>
              <a:rPr lang="en-IN" dirty="0">
                <a:latin typeface="Adobe Garamond Pro Bold" panose="02020702060506020403" pitchFamily="18" charset="0"/>
              </a:rPr>
              <a:t> with zero floating-point rounding drift.</a:t>
            </a:r>
            <a:endParaRPr lang="en-IN" sz="1400" dirty="0">
              <a:effectLst/>
              <a:latin typeface="Adobe Garamond Pro Bold" panose="02020702060506020403" pitchFamily="18" charset="0"/>
            </a:endParaRPr>
          </a:p>
          <a:p>
            <a:r>
              <a:rPr lang="en-IN" b="1" dirty="0">
                <a:latin typeface="Adobe Garamond Pro Bold" panose="02020702060506020403" pitchFamily="18" charset="0"/>
              </a:rPr>
              <a:t>Multi-Target Export &amp; Web Framework Streaming:</a:t>
            </a:r>
            <a:r>
              <a:rPr lang="en-IN" dirty="0">
                <a:latin typeface="Adobe Garamond Pro Bold" panose="02020702060506020403" pitchFamily="18" charset="0"/>
              </a:rPr>
              <a:t> Write to disk, compile to Node.js Buffer, </a:t>
            </a:r>
            <a:r>
              <a:rPr lang="en-IN" dirty="0" err="1">
                <a:latin typeface="Adobe Garamond Pro Bold" panose="02020702060506020403" pitchFamily="18" charset="0"/>
              </a:rPr>
              <a:t>ReadableStream</a:t>
            </a:r>
            <a:r>
              <a:rPr lang="en-IN" dirty="0">
                <a:latin typeface="Adobe Garamond Pro Bold" panose="02020702060506020403" pitchFamily="18" charset="0"/>
              </a:rPr>
              <a:t>, </a:t>
            </a:r>
            <a:r>
              <a:rPr lang="en-IN" dirty="0" err="1">
                <a:latin typeface="Adobe Garamond Pro Bold" panose="02020702060506020403" pitchFamily="18" charset="0"/>
              </a:rPr>
              <a:t>ArrayBuffer</a:t>
            </a:r>
            <a:r>
              <a:rPr lang="en-IN" dirty="0">
                <a:latin typeface="Adobe Garamond Pro Bold" panose="02020702060506020403" pitchFamily="18" charset="0"/>
              </a:rPr>
              <a:t>, Base64 / Data URI, export to Flat OPC XML string, stream directly to Express.js / </a:t>
            </a:r>
            <a:r>
              <a:rPr lang="en-IN" dirty="0" err="1">
                <a:latin typeface="Adobe Garamond Pro Bold" panose="02020702060506020403" pitchFamily="18" charset="0"/>
              </a:rPr>
              <a:t>Fastify</a:t>
            </a:r>
            <a:r>
              <a:rPr lang="en-IN" dirty="0">
                <a:latin typeface="Adobe Garamond Pro Bold" panose="02020702060506020403" pitchFamily="18" charset="0"/>
              </a:rPr>
              <a:t> responses, or emit Web Standard Response objects for Next.js Route Handlers and Edge workers.</a:t>
            </a:r>
            <a:endParaRPr lang="en-IN" sz="1400" dirty="0">
              <a:effectLst/>
              <a:latin typeface="Adobe Garamond Pro Bold" panose="02020702060506020403" pitchFamily="18" charset="0"/>
            </a:endParaRPr>
          </a:p>
          <a:p>
            <a:r>
              <a:rPr lang="en-IN" b="1" dirty="0">
                <a:latin typeface="Adobe Garamond Pro Bold" panose="02020702060506020403" pitchFamily="18" charset="0"/>
              </a:rPr>
              <a:t>Direct XML &amp; ZIP Extraction:</a:t>
            </a:r>
            <a:r>
              <a:rPr lang="en-IN" dirty="0">
                <a:latin typeface="Adobe Garamond Pro Bold" panose="02020702060506020403" pitchFamily="18" charset="0"/>
              </a:rPr>
              <a:t> Unpack presentations to raw directory trees with optional 2-space XML formatting (</a:t>
            </a:r>
            <a:r>
              <a:rPr lang="en-IN" dirty="0" err="1">
                <a:latin typeface="Adobe Garamond Pro Bold" panose="02020702060506020403" pitchFamily="18" charset="0"/>
              </a:rPr>
              <a:t>formatXml</a:t>
            </a:r>
            <a:r>
              <a:rPr lang="en-IN" dirty="0">
                <a:latin typeface="Adobe Garamond Pro Bold" panose="02020702060506020403" pitchFamily="18" charset="0"/>
              </a:rPr>
              <a:t>: true) for git inspection, or package directly to clean compressed ZIP archives.</a:t>
            </a:r>
            <a:endParaRPr lang="en-IN" sz="1400" dirty="0">
              <a:effectLst/>
              <a:latin typeface="Adobe Garamond Pro Bold" panose="02020702060506020403" pitchFamily="18" charset="0"/>
            </a:endParaRPr>
          </a:p>
        </p:txBody>
      </p:sp>
      <p:sp>
        <p:nvSpPr>
          <p:cNvPr id="4" name="addLists">
            <a:extLst>
              <a:ext uri="{FF2B5EF4-FFF2-40B4-BE49-F238E27FC236}">
                <a16:creationId xmlns:a16="http://schemas.microsoft.com/office/drawing/2014/main" id="{B1AFDC8E-0FCB-B951-B906-B1B7AA161D60}"/>
              </a:ext>
            </a:extLst>
          </p:cNvPr>
          <p:cNvSpPr txBox="1">
            <a:spLocks/>
          </p:cNvSpPr>
          <p:nvPr/>
        </p:nvSpPr>
        <p:spPr>
          <a:xfrm>
            <a:off x="838200" y="570255"/>
            <a:ext cx="1983475" cy="57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Add List:</a:t>
            </a:r>
          </a:p>
        </p:txBody>
      </p:sp>
      <p:sp>
        <p:nvSpPr>
          <p:cNvPr id="6" name="replaceList Text">
            <a:extLst>
              <a:ext uri="{FF2B5EF4-FFF2-40B4-BE49-F238E27FC236}">
                <a16:creationId xmlns:a16="http://schemas.microsoft.com/office/drawing/2014/main" id="{287F98CB-90FE-9E43-2746-B8B64D07AFBB}"/>
              </a:ext>
            </a:extLst>
          </p:cNvPr>
          <p:cNvSpPr txBox="1">
            <a:spLocks/>
          </p:cNvSpPr>
          <p:nvPr/>
        </p:nvSpPr>
        <p:spPr>
          <a:xfrm>
            <a:off x="608463" y="3161044"/>
            <a:ext cx="1983475" cy="57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Replace List:</a:t>
            </a:r>
          </a:p>
        </p:txBody>
      </p:sp>
    </p:spTree>
    <p:extLst>
      <p:ext uri="{BB962C8B-B14F-4D97-AF65-F5344CB8AC3E}">
        <p14:creationId xmlns:p14="http://schemas.microsoft.com/office/powerpoint/2010/main" val="3912803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E6CAC-E7A9-A327-67E9-AA5B12895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g Content List">
            <a:extLst>
              <a:ext uri="{FF2B5EF4-FFF2-40B4-BE49-F238E27FC236}">
                <a16:creationId xmlns:a16="http://schemas.microsoft.com/office/drawing/2014/main" id="{B76E7103-C194-7BCA-D066-4D2001BB8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3083"/>
            <a:ext cx="10515600" cy="6322088"/>
          </a:xfrm>
        </p:spPr>
        <p:txBody>
          <a:bodyPr>
            <a:normAutofit fontScale="92500" lnSpcReduction="10000"/>
          </a:bodyPr>
          <a:lstStyle/>
          <a:p>
            <a:r>
              <a:rPr lang="en-IN" sz="1400" b="1" dirty="0"/>
              <a:t>🚀 Low-Level </a:t>
            </a:r>
            <a:r>
              <a:rPr lang="en-IN" sz="1400" b="1" dirty="0" err="1"/>
              <a:t>OpenXML</a:t>
            </a:r>
            <a:r>
              <a:rPr lang="en-IN" sz="1400" b="1" dirty="0"/>
              <a:t> &amp; Flat OPC PowerPoint Engine for Node.js</a:t>
            </a:r>
          </a:p>
          <a:p>
            <a:r>
              <a:rPr lang="en-IN" sz="1400" b="1" dirty="0"/>
              <a:t>node-pptx-</a:t>
            </a:r>
            <a:r>
              <a:rPr lang="en-IN" sz="1400" b="1" dirty="0" err="1"/>
              <a:t>templater</a:t>
            </a:r>
            <a:r>
              <a:rPr lang="en-IN" sz="1400" dirty="0"/>
              <a:t> is an enterprise-grade, high-performance, spatial-aware PowerPoint </a:t>
            </a:r>
            <a:r>
              <a:rPr lang="en-IN" sz="1400" dirty="0" err="1"/>
              <a:t>OpenXML</a:t>
            </a:r>
            <a:r>
              <a:rPr lang="en-IN" sz="1400" dirty="0"/>
              <a:t> manipulation and templating engine built for </a:t>
            </a:r>
            <a:r>
              <a:rPr lang="en-IN" sz="1400" b="1" dirty="0"/>
              <a:t>Node.js (&gt;=20.12.0)</a:t>
            </a:r>
            <a:r>
              <a:rPr lang="en-IN" sz="1400" dirty="0"/>
              <a:t>, </a:t>
            </a:r>
            <a:r>
              <a:rPr lang="en-IN" sz="1400" b="1" dirty="0"/>
              <a:t>AWS Lambda</a:t>
            </a:r>
            <a:r>
              <a:rPr lang="en-IN" sz="1400" dirty="0"/>
              <a:t>, </a:t>
            </a:r>
            <a:r>
              <a:rPr lang="en-IN" sz="1400" b="1" dirty="0"/>
              <a:t>Cloudflare Workers</a:t>
            </a:r>
            <a:r>
              <a:rPr lang="en-IN" sz="1400" dirty="0"/>
              <a:t>, </a:t>
            </a:r>
            <a:r>
              <a:rPr lang="en-IN" sz="1400" b="1" dirty="0" err="1"/>
              <a:t>Vercel</a:t>
            </a:r>
            <a:r>
              <a:rPr lang="en-IN" sz="1400" b="1" dirty="0"/>
              <a:t> Edge</a:t>
            </a:r>
            <a:r>
              <a:rPr lang="en-IN" sz="1400" dirty="0"/>
              <a:t>, and </a:t>
            </a:r>
            <a:r>
              <a:rPr lang="en-IN" sz="1400" dirty="0" err="1"/>
              <a:t>containerless</a:t>
            </a:r>
            <a:r>
              <a:rPr lang="en-IN" sz="1400" dirty="0"/>
              <a:t> cloud environments.</a:t>
            </a:r>
          </a:p>
          <a:p>
            <a:r>
              <a:rPr lang="en-IN" sz="1400" dirty="0"/>
              <a:t>Unlike legacy solutions that require spinning up heavyweight LibreOffice Docker containers (500MB+ images, 15-second cold starts), headless browser instances, or native Java runtimes, node-pptx-</a:t>
            </a:r>
            <a:r>
              <a:rPr lang="en-IN" sz="1400" dirty="0" err="1"/>
              <a:t>templater</a:t>
            </a:r>
            <a:r>
              <a:rPr lang="en-IN" sz="1400" dirty="0"/>
              <a:t> is </a:t>
            </a:r>
            <a:r>
              <a:rPr lang="en-IN" sz="1400" b="1" dirty="0"/>
              <a:t>100% pure JavaScript with zero native binary dependencies</a:t>
            </a:r>
            <a:r>
              <a:rPr lang="en-IN" sz="1400" dirty="0"/>
              <a:t>. It mutates and synthesizes </a:t>
            </a:r>
            <a:r>
              <a:rPr lang="en-IN" sz="1400" dirty="0" err="1"/>
              <a:t>OpenXML</a:t>
            </a:r>
            <a:r>
              <a:rPr lang="en-IN" sz="1400" dirty="0"/>
              <a:t> presentation packages entirely in memory without corrupting </a:t>
            </a:r>
            <a:r>
              <a:rPr lang="en-IN" sz="1400" dirty="0" err="1"/>
              <a:t>PresentationML</a:t>
            </a:r>
            <a:r>
              <a:rPr lang="en-IN" sz="1400" dirty="0"/>
              <a:t> relationships, layouts, or formatting.</a:t>
            </a:r>
          </a:p>
          <a:p>
            <a:r>
              <a:rPr lang="en-IN" sz="1400" b="1" dirty="0"/>
              <a:t>🌟 Architectural Highlights</a:t>
            </a:r>
          </a:p>
          <a:p>
            <a:pPr lvl="0"/>
            <a:r>
              <a:rPr lang="en-IN" sz="1400" b="1" dirty="0"/>
              <a:t>Multi-Format Polymorphic Ingestion:</a:t>
            </a:r>
            <a:r>
              <a:rPr lang="en-IN" sz="1400" dirty="0"/>
              <a:t> Seamlessly loads .pptx, .</a:t>
            </a:r>
            <a:r>
              <a:rPr lang="en-IN" sz="1400" dirty="0" err="1"/>
              <a:t>pptm</a:t>
            </a:r>
            <a:r>
              <a:rPr lang="en-IN" sz="1400" dirty="0"/>
              <a:t>, .</a:t>
            </a:r>
            <a:r>
              <a:rPr lang="en-IN" sz="1400" dirty="0" err="1"/>
              <a:t>potx</a:t>
            </a:r>
            <a:r>
              <a:rPr lang="en-IN" sz="1400" dirty="0"/>
              <a:t>, .</a:t>
            </a:r>
            <a:r>
              <a:rPr lang="en-IN" sz="1400" dirty="0" err="1"/>
              <a:t>potm</a:t>
            </a:r>
            <a:r>
              <a:rPr lang="en-IN" sz="1400" dirty="0"/>
              <a:t>, .</a:t>
            </a:r>
            <a:r>
              <a:rPr lang="en-IN" sz="1400" dirty="0" err="1"/>
              <a:t>ppsx</a:t>
            </a:r>
            <a:r>
              <a:rPr lang="en-IN" sz="1400" dirty="0"/>
              <a:t>, .</a:t>
            </a:r>
            <a:r>
              <a:rPr lang="en-IN" sz="1400" dirty="0" err="1"/>
              <a:t>ppsm</a:t>
            </a:r>
            <a:r>
              <a:rPr lang="en-IN" sz="1400" dirty="0"/>
              <a:t>, .</a:t>
            </a:r>
            <a:r>
              <a:rPr lang="en-IN" sz="1400" dirty="0" err="1"/>
              <a:t>ppam</a:t>
            </a:r>
            <a:r>
              <a:rPr lang="en-IN" sz="1400" dirty="0"/>
              <a:t>, legacy binary .ppt, OpenDocument .</a:t>
            </a:r>
            <a:r>
              <a:rPr lang="en-IN" sz="1400" dirty="0" err="1"/>
              <a:t>odp</a:t>
            </a:r>
            <a:r>
              <a:rPr lang="en-IN" sz="1400" dirty="0"/>
              <a:t>, raw ZIP buffers, uncompressed XML directories, remote HTTP/HTTPS URLs.</a:t>
            </a:r>
          </a:p>
          <a:p>
            <a:pPr lvl="0"/>
            <a:r>
              <a:rPr lang="en-IN" sz="1400" b="1" dirty="0"/>
              <a:t>Microsoft Flat OPC XML Support (&lt;</a:t>
            </a:r>
            <a:r>
              <a:rPr lang="en-IN" sz="1400" b="1" dirty="0" err="1"/>
              <a:t>pkg:package</a:t>
            </a:r>
            <a:r>
              <a:rPr lang="en-IN" sz="1400" b="1" dirty="0"/>
              <a:t>&gt;):</a:t>
            </a:r>
            <a:r>
              <a:rPr lang="en-IN" sz="1400" dirty="0"/>
              <a:t> Ingest and export single-file XML presentations (sample.xml) directly with zero ZIP overhead. Decodes embedded base64 media and workbooks into the in-memory Virtual File System (VFS).</a:t>
            </a:r>
          </a:p>
          <a:p>
            <a:pPr lvl="0"/>
            <a:r>
              <a:rPr lang="en-IN" sz="1400" b="1" dirty="0"/>
              <a:t>Template-Free Blank Deck Generation:</a:t>
            </a:r>
            <a:r>
              <a:rPr lang="en-IN" sz="1400" dirty="0"/>
              <a:t> Create pristine, valid </a:t>
            </a:r>
            <a:r>
              <a:rPr lang="en-IN" sz="1400" dirty="0" err="1"/>
              <a:t>OpenXML</a:t>
            </a:r>
            <a:r>
              <a:rPr lang="en-IN" sz="1400" dirty="0"/>
              <a:t> presentations from scratch with exact aspect ratios (16:9, 4:3, 16:10) or custom EMU/pixel dimensions without any template fixtures.</a:t>
            </a:r>
          </a:p>
          <a:p>
            <a:pPr lvl="0"/>
            <a:r>
              <a:rPr lang="en-IN" sz="1400" b="1" dirty="0"/>
              <a:t>Anti-Corruption Run Fragment Healing:</a:t>
            </a:r>
            <a:r>
              <a:rPr lang="en-IN" sz="1400" dirty="0"/>
              <a:t> PowerPoint frequently splits placeholder tokens like {{COMPANY_NAME}} into disjoint &lt;</a:t>
            </a:r>
            <a:r>
              <a:rPr lang="en-IN" sz="1400" dirty="0" err="1"/>
              <a:t>a:r</a:t>
            </a:r>
            <a:r>
              <a:rPr lang="en-IN" sz="1400" dirty="0"/>
              <a:t>&gt; XML run nodes. Our AST paragraph normalizer merges split runs while preserving font styles, weights, </a:t>
            </a:r>
            <a:r>
              <a:rPr lang="en-IN" sz="1400" dirty="0" err="1"/>
              <a:t>colors</a:t>
            </a:r>
            <a:r>
              <a:rPr lang="en-IN" sz="1400" dirty="0"/>
              <a:t>, and layout intact.</a:t>
            </a:r>
          </a:p>
          <a:p>
            <a:pPr lvl="0"/>
            <a:r>
              <a:rPr lang="en-IN" sz="1400" b="1" dirty="0"/>
              <a:t>Excel Dual-Sync Technology:</a:t>
            </a:r>
            <a:r>
              <a:rPr lang="en-IN" sz="1400" dirty="0"/>
              <a:t> Updating only XML chart series causes Microsoft Office to trigger "Repair Presentation" warnings when a user clicks "Edit Data in Excel". node-pptx-</a:t>
            </a:r>
            <a:r>
              <a:rPr lang="en-IN" sz="1400" dirty="0" err="1"/>
              <a:t>templater</a:t>
            </a:r>
            <a:r>
              <a:rPr lang="en-IN" sz="1400" dirty="0"/>
              <a:t> updates both </a:t>
            </a:r>
            <a:r>
              <a:rPr lang="en-IN" sz="1400" dirty="0" err="1"/>
              <a:t>DrawingML</a:t>
            </a:r>
            <a:r>
              <a:rPr lang="en-IN" sz="1400" dirty="0"/>
              <a:t> &lt;</a:t>
            </a:r>
            <a:r>
              <a:rPr lang="en-IN" sz="1400" dirty="0" err="1"/>
              <a:t>c:chartSpace</a:t>
            </a:r>
            <a:r>
              <a:rPr lang="en-IN" sz="1400" dirty="0"/>
              <a:t>&gt; series and embedded binary Excel workbooks (.xlsx) simultaneously.</a:t>
            </a:r>
          </a:p>
          <a:p>
            <a:pPr lvl="0"/>
            <a:r>
              <a:rPr lang="en-IN" sz="1400" b="1" dirty="0"/>
              <a:t>Spatial Geometry &amp; Percentage Coordinates (0–100%):</a:t>
            </a:r>
            <a:r>
              <a:rPr lang="en-IN" sz="1400" dirty="0"/>
              <a:t> Position shapes, tables, charts, images, and text boxes using intuitive percentage strings (x: '10%', y: '50%', width: '80%') or numeric percentages (unit: '%') mapped precisely across canvas boundaries without rounding drift.</a:t>
            </a:r>
          </a:p>
          <a:p>
            <a:pPr lvl="0"/>
            <a:r>
              <a:rPr lang="en-IN" sz="1400" b="1" dirty="0"/>
              <a:t>Non-Blocking In-Memory Lifecycles:</a:t>
            </a:r>
            <a:r>
              <a:rPr lang="en-IN" sz="1400" dirty="0"/>
              <a:t> Agile presentation synthesis without artificial validation hurdles. </a:t>
            </a:r>
            <a:r>
              <a:rPr lang="en-IN" sz="1400" dirty="0" err="1"/>
              <a:t>validatePresentation</a:t>
            </a:r>
            <a:r>
              <a:rPr lang="en-IN" sz="1400" dirty="0"/>
              <a:t>() serves as an on-demand, non-blocking diagnostic tool.</a:t>
            </a:r>
          </a:p>
          <a:p>
            <a:pPr lvl="0"/>
            <a:r>
              <a:rPr lang="en-IN" sz="1400" b="1" dirty="0"/>
              <a:t>Spatial Geometry &amp; Z-Order Layering:</a:t>
            </a:r>
            <a:r>
              <a:rPr lang="en-IN" sz="1400" dirty="0"/>
              <a:t> Reorder visual stack depth (</a:t>
            </a:r>
            <a:r>
              <a:rPr lang="en-IN" sz="1400" dirty="0" err="1"/>
              <a:t>bringToFront</a:t>
            </a:r>
            <a:r>
              <a:rPr lang="en-IN" sz="1400" dirty="0"/>
              <a:t>, </a:t>
            </a:r>
            <a:r>
              <a:rPr lang="en-IN" sz="1400" dirty="0" err="1"/>
              <a:t>sendToBack</a:t>
            </a:r>
            <a:r>
              <a:rPr lang="en-IN" sz="1400" dirty="0"/>
              <a:t>, </a:t>
            </a:r>
            <a:r>
              <a:rPr lang="en-IN" sz="1400" dirty="0" err="1"/>
              <a:t>stepForward</a:t>
            </a:r>
            <a:r>
              <a:rPr lang="en-IN" sz="1400" dirty="0"/>
              <a:t>, </a:t>
            </a:r>
            <a:r>
              <a:rPr lang="en-IN" sz="1400" dirty="0" err="1"/>
              <a:t>stepBackward</a:t>
            </a:r>
            <a:r>
              <a:rPr lang="en-IN" sz="1400" dirty="0"/>
              <a:t>) and calculate coordinates using English Metric Units (EMU), pixels, inches, and </a:t>
            </a:r>
            <a:r>
              <a:rPr lang="en-IN" sz="1400" dirty="0" err="1"/>
              <a:t>millimeters</a:t>
            </a:r>
            <a:r>
              <a:rPr lang="en-IN" sz="1400" dirty="0"/>
              <a:t> with zero floating-point rounding drift.</a:t>
            </a:r>
          </a:p>
          <a:p>
            <a:pPr lvl="0"/>
            <a:r>
              <a:rPr lang="en-IN" sz="1400" b="1" dirty="0"/>
              <a:t>Multi-Target Export &amp; Web Framework Streaming:</a:t>
            </a:r>
            <a:r>
              <a:rPr lang="en-IN" sz="1400" dirty="0"/>
              <a:t> Write to disk, compile to Node.js Buffer, </a:t>
            </a:r>
            <a:r>
              <a:rPr lang="en-IN" sz="1400" dirty="0" err="1"/>
              <a:t>ReadableStream</a:t>
            </a:r>
            <a:r>
              <a:rPr lang="en-IN" sz="1400" dirty="0"/>
              <a:t>, </a:t>
            </a:r>
            <a:r>
              <a:rPr lang="en-IN" sz="1400" dirty="0" err="1"/>
              <a:t>ArrayBuffer</a:t>
            </a:r>
            <a:r>
              <a:rPr lang="en-IN" sz="1400" dirty="0"/>
              <a:t>, Base64 / Data URI, export to Flat OPC XML string, stream directly to Express.js / </a:t>
            </a:r>
            <a:r>
              <a:rPr lang="en-IN" sz="1400" dirty="0" err="1"/>
              <a:t>Fastify</a:t>
            </a:r>
            <a:r>
              <a:rPr lang="en-IN" sz="1400" dirty="0"/>
              <a:t> responses, or emit Web Standard Response objects for Next.js Route Handlers and Edge workers.</a:t>
            </a:r>
          </a:p>
          <a:p>
            <a:pPr lvl="0"/>
            <a:r>
              <a:rPr lang="en-IN" sz="1400" b="1" dirty="0"/>
              <a:t>Direct XML &amp; ZIP Extraction:</a:t>
            </a:r>
            <a:r>
              <a:rPr lang="en-IN" sz="1400" dirty="0"/>
              <a:t> Unpack presentations to raw directory trees with optional 2-space XML formatting (</a:t>
            </a:r>
            <a:r>
              <a:rPr lang="en-IN" sz="1400" dirty="0" err="1"/>
              <a:t>formatXml</a:t>
            </a:r>
            <a:r>
              <a:rPr lang="en-IN" sz="1400" dirty="0"/>
              <a:t>: true) for git inspection, or package directly to clean compressed ZIP archives.</a:t>
            </a:r>
          </a:p>
        </p:txBody>
      </p:sp>
    </p:spTree>
    <p:extLst>
      <p:ext uri="{BB962C8B-B14F-4D97-AF65-F5344CB8AC3E}">
        <p14:creationId xmlns:p14="http://schemas.microsoft.com/office/powerpoint/2010/main" val="3123577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0AEF7-86D6-CA89-0697-7161F9BF7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move List">
            <a:extLst>
              <a:ext uri="{FF2B5EF4-FFF2-40B4-BE49-F238E27FC236}">
                <a16:creationId xmlns:a16="http://schemas.microsoft.com/office/drawing/2014/main" id="{5EBC12CF-0107-AE7C-673B-F409B22F0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956"/>
            <a:ext cx="10515600" cy="3161044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Remove List</a:t>
            </a:r>
          </a:p>
          <a:p>
            <a:r>
              <a:rPr lang="en-IN" sz="1400" b="1" dirty="0"/>
              <a:t>Multi-Format Polymorphic Ingestion:</a:t>
            </a:r>
            <a:r>
              <a:rPr lang="en-IN" sz="1400" dirty="0"/>
              <a:t> Seamlessly loads .pptx, .</a:t>
            </a:r>
            <a:r>
              <a:rPr lang="en-IN" sz="1400" dirty="0" err="1"/>
              <a:t>pptm</a:t>
            </a:r>
            <a:r>
              <a:rPr lang="en-IN" sz="1400" dirty="0"/>
              <a:t>, .</a:t>
            </a:r>
            <a:r>
              <a:rPr lang="en-IN" sz="1400" dirty="0" err="1"/>
              <a:t>potx</a:t>
            </a:r>
            <a:r>
              <a:rPr lang="en-IN" sz="1400" dirty="0"/>
              <a:t>, .</a:t>
            </a:r>
            <a:r>
              <a:rPr lang="en-IN" sz="1400" dirty="0" err="1"/>
              <a:t>potm</a:t>
            </a:r>
            <a:r>
              <a:rPr lang="en-IN" sz="1400" dirty="0"/>
              <a:t>, .</a:t>
            </a:r>
            <a:r>
              <a:rPr lang="en-IN" sz="1400" dirty="0" err="1"/>
              <a:t>ppsx</a:t>
            </a:r>
            <a:r>
              <a:rPr lang="en-IN" sz="1400" dirty="0"/>
              <a:t>, .</a:t>
            </a:r>
            <a:r>
              <a:rPr lang="en-IN" sz="1400" dirty="0" err="1"/>
              <a:t>ppsm</a:t>
            </a:r>
            <a:r>
              <a:rPr lang="en-IN" sz="1400" dirty="0"/>
              <a:t>, .</a:t>
            </a:r>
            <a:r>
              <a:rPr lang="en-IN" sz="1400" dirty="0" err="1"/>
              <a:t>ppam</a:t>
            </a:r>
            <a:r>
              <a:rPr lang="en-IN" sz="1400" dirty="0"/>
              <a:t>, legacy binary .ppt, OpenDocument .</a:t>
            </a:r>
            <a:r>
              <a:rPr lang="en-IN" sz="1400" dirty="0" err="1"/>
              <a:t>odp</a:t>
            </a:r>
            <a:r>
              <a:rPr lang="en-IN" sz="1400" dirty="0"/>
              <a:t>, raw ZIP buffers, uncompressed XML directories, remote HTTP/HTTPS URLs.</a:t>
            </a:r>
          </a:p>
          <a:p>
            <a:r>
              <a:rPr lang="en-IN" sz="1400" b="1" dirty="0"/>
              <a:t>Microsoft Flat OPC XML Support (&lt;</a:t>
            </a:r>
            <a:r>
              <a:rPr lang="en-IN" sz="1400" b="1" dirty="0" err="1"/>
              <a:t>pkg:package</a:t>
            </a:r>
            <a:r>
              <a:rPr lang="en-IN" sz="1400" b="1" dirty="0"/>
              <a:t>&gt;):</a:t>
            </a:r>
            <a:r>
              <a:rPr lang="en-IN" sz="1400" dirty="0"/>
              <a:t> Ingest and export single-file XML presentations (sample.xml) directly with zero ZIP overhead. Decodes embedded base64 media and workbooks into the in-memory Virtual File System (VFS).</a:t>
            </a:r>
          </a:p>
          <a:p>
            <a:r>
              <a:rPr lang="en-IN" sz="1400" b="1" dirty="0"/>
              <a:t>Template-Free Blank Deck Generation:</a:t>
            </a:r>
            <a:r>
              <a:rPr lang="en-IN" sz="1400" dirty="0"/>
              <a:t> Create pristine, valid </a:t>
            </a:r>
            <a:r>
              <a:rPr lang="en-IN" sz="1400" dirty="0" err="1"/>
              <a:t>OpenXML</a:t>
            </a:r>
            <a:r>
              <a:rPr lang="en-IN" sz="1400" dirty="0"/>
              <a:t> presentations from scratch with exact aspect ratios (16:9, 4:3, 16:10) or custom EMU/pixel dimensions without any template fixtures.</a:t>
            </a:r>
          </a:p>
          <a:p>
            <a:r>
              <a:rPr lang="en-IN" sz="1400" b="1" dirty="0"/>
              <a:t>Anti-Corruption Run Fragment Healing:</a:t>
            </a:r>
            <a:r>
              <a:rPr lang="en-IN" sz="1400" dirty="0"/>
              <a:t> PowerPoint frequently splits placeholder tokens like {{COMPANY_NAME}} into disjoint &lt;</a:t>
            </a:r>
            <a:r>
              <a:rPr lang="en-IN" sz="1400" dirty="0" err="1"/>
              <a:t>a:r</a:t>
            </a:r>
            <a:r>
              <a:rPr lang="en-IN" sz="1400" dirty="0"/>
              <a:t>&gt; XML run nodes. Our AST paragraph normalizer merges split runs while preserving font styles, weights, </a:t>
            </a:r>
            <a:r>
              <a:rPr lang="en-IN" sz="1400" dirty="0" err="1"/>
              <a:t>colors</a:t>
            </a:r>
            <a:r>
              <a:rPr lang="en-IN" sz="1400" dirty="0"/>
              <a:t>, and layout intact.</a:t>
            </a:r>
          </a:p>
          <a:p>
            <a:r>
              <a:rPr lang="en-IN" sz="1400" b="1" dirty="0"/>
              <a:t>Excel Dual-Sync Technology:</a:t>
            </a:r>
            <a:r>
              <a:rPr lang="en-IN" sz="1400" dirty="0"/>
              <a:t> Updating only XML chart series causes Microsoft Office to trigger "Repair Presentation" warnings when a user clicks "Edit Data in Excel". node-pptx-</a:t>
            </a:r>
            <a:r>
              <a:rPr lang="en-IN" sz="1400" dirty="0" err="1"/>
              <a:t>templater</a:t>
            </a:r>
            <a:r>
              <a:rPr lang="en-IN" sz="1400" dirty="0"/>
              <a:t> updates both </a:t>
            </a:r>
            <a:r>
              <a:rPr lang="en-IN" sz="1400" dirty="0" err="1"/>
              <a:t>DrawingML</a:t>
            </a:r>
            <a:r>
              <a:rPr lang="en-IN" sz="1400" dirty="0"/>
              <a:t> &lt;</a:t>
            </a:r>
            <a:r>
              <a:rPr lang="en-IN" sz="1400" dirty="0" err="1"/>
              <a:t>c:chartSpace</a:t>
            </a:r>
            <a:r>
              <a:rPr lang="en-IN" sz="1400" dirty="0"/>
              <a:t>&gt; series and embedded binary Excel workbooks (.xlsx) simultaneously.</a:t>
            </a:r>
          </a:p>
        </p:txBody>
      </p:sp>
      <p:sp>
        <p:nvSpPr>
          <p:cNvPr id="2" name="Clear List">
            <a:extLst>
              <a:ext uri="{FF2B5EF4-FFF2-40B4-BE49-F238E27FC236}">
                <a16:creationId xmlns:a16="http://schemas.microsoft.com/office/drawing/2014/main" id="{658DA691-8126-2A7C-EB96-E81D376A6F66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3161044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5800" b="1" dirty="0"/>
              <a:t>Clear </a:t>
            </a:r>
            <a:r>
              <a:rPr lang="en-IN" sz="6000" b="1" dirty="0"/>
              <a:t>List</a:t>
            </a:r>
          </a:p>
          <a:p>
            <a:r>
              <a:rPr lang="en-IN" b="1" dirty="0"/>
              <a:t>Spatial Geometry &amp; Percentage Coordinates (0–100%):</a:t>
            </a:r>
            <a:r>
              <a:rPr lang="en-IN" dirty="0"/>
              <a:t> Position shapes, tables, charts, images, and text boxes using intuitive percentage strings (x: '10%', y: '50%', width: '80%') or numeric percentages (unit: '%') mapped precisely across canvas boundaries without rounding drift.</a:t>
            </a:r>
            <a:endParaRPr lang="en-IN" sz="1400" dirty="0">
              <a:effectLst/>
            </a:endParaRPr>
          </a:p>
          <a:p>
            <a:r>
              <a:rPr lang="en-IN" b="1" dirty="0"/>
              <a:t>Non-Blocking In-Memory Lifecycles:</a:t>
            </a:r>
            <a:r>
              <a:rPr lang="en-IN" dirty="0"/>
              <a:t> Agile presentation synthesis without artificial validation hurdles. </a:t>
            </a:r>
            <a:r>
              <a:rPr lang="en-IN" dirty="0" err="1"/>
              <a:t>validatePresentation</a:t>
            </a:r>
            <a:r>
              <a:rPr lang="en-IN" dirty="0"/>
              <a:t>() serves as an on-demand, non-blocking diagnostic tool.</a:t>
            </a:r>
            <a:endParaRPr lang="en-IN" sz="1400" dirty="0">
              <a:effectLst/>
            </a:endParaRPr>
          </a:p>
          <a:p>
            <a:r>
              <a:rPr lang="en-IN" b="1" dirty="0"/>
              <a:t>Spatial Geometry &amp; Z-Order Layering:</a:t>
            </a:r>
            <a:r>
              <a:rPr lang="en-IN" dirty="0"/>
              <a:t> Reorder visual stack depth (</a:t>
            </a:r>
            <a:r>
              <a:rPr lang="en-IN" dirty="0" err="1"/>
              <a:t>bringToFront</a:t>
            </a:r>
            <a:r>
              <a:rPr lang="en-IN" dirty="0"/>
              <a:t>, </a:t>
            </a:r>
            <a:r>
              <a:rPr lang="en-IN" dirty="0" err="1"/>
              <a:t>sendToBack</a:t>
            </a:r>
            <a:r>
              <a:rPr lang="en-IN" dirty="0"/>
              <a:t>, </a:t>
            </a:r>
            <a:r>
              <a:rPr lang="en-IN" dirty="0" err="1"/>
              <a:t>stepForward</a:t>
            </a:r>
            <a:r>
              <a:rPr lang="en-IN" dirty="0"/>
              <a:t>, </a:t>
            </a:r>
            <a:r>
              <a:rPr lang="en-IN" dirty="0" err="1"/>
              <a:t>stepBackward</a:t>
            </a:r>
            <a:r>
              <a:rPr lang="en-IN" dirty="0"/>
              <a:t>) and calculate coordinates using English Metric Units (EMU), pixels, inches, and </a:t>
            </a:r>
            <a:r>
              <a:rPr lang="en-IN" dirty="0" err="1"/>
              <a:t>millimeters</a:t>
            </a:r>
            <a:r>
              <a:rPr lang="en-IN" dirty="0"/>
              <a:t> with zero floating-point rounding drift.</a:t>
            </a:r>
            <a:endParaRPr lang="en-IN" sz="1400" dirty="0">
              <a:effectLst/>
            </a:endParaRPr>
          </a:p>
          <a:p>
            <a:r>
              <a:rPr lang="en-IN" b="1" dirty="0"/>
              <a:t>Multi-Target Export &amp; Web Framework Streaming:</a:t>
            </a:r>
            <a:r>
              <a:rPr lang="en-IN" dirty="0"/>
              <a:t> Write to disk, compile to Node.js Buffer, </a:t>
            </a:r>
            <a:r>
              <a:rPr lang="en-IN" dirty="0" err="1"/>
              <a:t>ReadableStream</a:t>
            </a:r>
            <a:r>
              <a:rPr lang="en-IN" dirty="0"/>
              <a:t>, </a:t>
            </a:r>
            <a:r>
              <a:rPr lang="en-IN" dirty="0" err="1"/>
              <a:t>ArrayBuffer</a:t>
            </a:r>
            <a:r>
              <a:rPr lang="en-IN" dirty="0"/>
              <a:t>, Base64 / Data URI, export to Flat OPC XML string, stream directly to Express.js / </a:t>
            </a:r>
            <a:r>
              <a:rPr lang="en-IN" dirty="0" err="1"/>
              <a:t>Fastify</a:t>
            </a:r>
            <a:r>
              <a:rPr lang="en-IN" dirty="0"/>
              <a:t> responses, or emit Web Standard Response objects for Next.js Route Handlers and Edge workers.</a:t>
            </a:r>
            <a:endParaRPr lang="en-IN" sz="1400" dirty="0">
              <a:effectLst/>
            </a:endParaRPr>
          </a:p>
          <a:p>
            <a:r>
              <a:rPr lang="en-IN" b="1" dirty="0"/>
              <a:t>Direct XML &amp; ZIP Extraction:</a:t>
            </a:r>
            <a:r>
              <a:rPr lang="en-IN" dirty="0"/>
              <a:t> Unpack presentations to raw directory trees with optional 2-space XML formatting (</a:t>
            </a:r>
            <a:r>
              <a:rPr lang="en-IN" dirty="0" err="1"/>
              <a:t>formatXml</a:t>
            </a:r>
            <a:r>
              <a:rPr lang="en-IN" dirty="0"/>
              <a:t>: true) for git inspection, or package directly to clean compressed ZIP archives.</a:t>
            </a:r>
            <a:endParaRPr lang="en-IN" sz="1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66153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4400C-C8FC-2E13-BC4A-2189E286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dd Style">
            <a:extLst>
              <a:ext uri="{FF2B5EF4-FFF2-40B4-BE49-F238E27FC236}">
                <a16:creationId xmlns:a16="http://schemas.microsoft.com/office/drawing/2014/main" id="{1150E04A-433B-B704-525D-1BC5E8F59B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49991"/>
            <a:ext cx="9144000" cy="660696"/>
          </a:xfrm>
        </p:spPr>
        <p:txBody>
          <a:bodyPr>
            <a:normAutofit/>
          </a:bodyPr>
          <a:lstStyle/>
          <a:p>
            <a:r>
              <a:rPr lang="en-IN" sz="1050" dirty="0"/>
              <a:t>Replaces template placeholders across targeted slides.</a:t>
            </a:r>
          </a:p>
        </p:txBody>
      </p:sp>
      <p:sp>
        <p:nvSpPr>
          <p:cNvPr id="2" name="Remove Style">
            <a:extLst>
              <a:ext uri="{FF2B5EF4-FFF2-40B4-BE49-F238E27FC236}">
                <a16:creationId xmlns:a16="http://schemas.microsoft.com/office/drawing/2014/main" id="{CA3D2DCA-A2C3-9FF0-EF95-BAA459241838}"/>
              </a:ext>
            </a:extLst>
          </p:cNvPr>
          <p:cNvSpPr txBox="1">
            <a:spLocks/>
          </p:cNvSpPr>
          <p:nvPr/>
        </p:nvSpPr>
        <p:spPr>
          <a:xfrm>
            <a:off x="1524000" y="4795966"/>
            <a:ext cx="9144000" cy="16240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600" b="1" i="1" u="sng" strike="sngStrike" dirty="0">
                <a:solidFill>
                  <a:schemeClr val="bg1">
                    <a:lumMod val="50000"/>
                  </a:schemeClr>
                </a:solidFill>
                <a:highlight>
                  <a:srgbClr val="000080"/>
                </a:highlight>
                <a:latin typeface="Algerian" panose="04020705040A02060702" pitchFamily="82" charset="0"/>
              </a:rPr>
              <a:t>STRIPS SPECIFIED STYLE PROPERTIES FROM A TARGET SHAPE TEXT RUNS OR PARAGRAPHS, RESETTING THEM TO INHERITED PRESENTATION DEFAULTS.</a:t>
            </a:r>
            <a:endParaRPr lang="en-IN" sz="1600" b="1" i="1" u="sng" strike="sngStrike" dirty="0">
              <a:solidFill>
                <a:schemeClr val="bg1">
                  <a:lumMod val="50000"/>
                </a:schemeClr>
              </a:solidFill>
              <a:highlight>
                <a:srgbClr val="000080"/>
              </a:highlight>
              <a:latin typeface="Algerian" panose="04020705040A02060702" pitchFamily="82" charset="0"/>
            </a:endParaRPr>
          </a:p>
        </p:txBody>
      </p:sp>
      <p:sp>
        <p:nvSpPr>
          <p:cNvPr id="7" name="Update Style">
            <a:extLst>
              <a:ext uri="{FF2B5EF4-FFF2-40B4-BE49-F238E27FC236}">
                <a16:creationId xmlns:a16="http://schemas.microsoft.com/office/drawing/2014/main" id="{F6402E17-986F-DFD9-D1C5-7615B50A1B0E}"/>
              </a:ext>
            </a:extLst>
          </p:cNvPr>
          <p:cNvSpPr txBox="1">
            <a:spLocks/>
          </p:cNvSpPr>
          <p:nvPr/>
        </p:nvSpPr>
        <p:spPr>
          <a:xfrm>
            <a:off x="1524000" y="2321256"/>
            <a:ext cx="9144000" cy="20641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3600" b="1" i="1" u="sng" strike="sngStrike" dirty="0">
                <a:solidFill>
                  <a:schemeClr val="bg1">
                    <a:lumMod val="50000"/>
                  </a:schemeClr>
                </a:solidFill>
                <a:highlight>
                  <a:srgbClr val="000080"/>
                </a:highlight>
                <a:latin typeface="Algerian" panose="04020705040A02060702" pitchFamily="82" charset="0"/>
              </a:rPr>
              <a:t>STRIPS SPECIFIED STYLE PROPERTIES FROM A TARGET SHAPE TEXT RUNS OR PARAGRAPHS, RESETTING THEM TO INHERITED PRESENTATION DEFAULTS.</a:t>
            </a:r>
            <a:endParaRPr lang="en-IN" sz="1600" b="1" i="1" u="sng" strike="sngStrike" dirty="0">
              <a:solidFill>
                <a:schemeClr val="bg1">
                  <a:lumMod val="50000"/>
                </a:schemeClr>
              </a:solidFill>
              <a:highlight>
                <a:srgbClr val="000080"/>
              </a:highligh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493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2308</Words>
  <Application>Microsoft Office PowerPoint</Application>
  <PresentationFormat>Widescreen</PresentationFormat>
  <Paragraphs>75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Adobe Garamond Pro Bold</vt:lpstr>
      <vt:lpstr>Algerian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Jadhav</dc:creator>
  <cp:lastModifiedBy>Suyog Jadhav</cp:lastModifiedBy>
  <cp:revision>6</cp:revision>
  <dcterms:created xsi:type="dcterms:W3CDTF">2026-10-17T07:21:49Z</dcterms:created>
  <dcterms:modified xsi:type="dcterms:W3CDTF">2026-10-17T12:57:53Z</dcterms:modified>
</cp:coreProperties>
</file>