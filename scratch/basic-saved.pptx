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Global SaaS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Revenue (2026)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</c:v>
                </c:pt>
                <c:pt idx="1">
                  <c:v>210</c:v>
                </c:pt>
                <c:pt idx="2">
                  <c:v>190</c:v>
                </c:pt>
                <c:pt idx="3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130</c:v>
                </c:pt>
                <c:pt idx="2">
                  <c:v>160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70</c:v>
                </c:pt>
                <c:pt idx="1">
                  <c:v>85</c:v>
                </c:pt>
                <c:pt idx="2">
                  <c:v>100</c:v>
                </c:pt>
                <c:pt idx="3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tx>
                <c:strRef>
                  <c:f>Sheet1!$F$2</c:f>
                  <c:strCache>
                    <c:ptCount val="1"/>
                    <c:pt idx="0">
                      <c:v>145
(18.24%)</c:v>
                    </c:pt>
                  </c:strCache>
                </c:strRef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{D60194AF-1C9C-4806-B539-2BE0B98C8ABF}</c15:txfldGUID>
                      <c15:f>Sheet1!$F$2</c15:f>
                      <c15:dlblFieldTableCache>
                        <c:ptCount val="1"/>
                        <c:pt idx="0">
                          <c:v>145
(18.24%)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BD4D-4A2E-9F0F-F28A8A00B0DB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noAutofit/>
              </a:bodyPr>
              <a:lstStyle/>
              <a:p>
                <a:pPr algn="ctr">
                  <a:defRPr lang="en-US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tx>
                <c:strRef>
                  <c:f>Sheet1!$G$2</c:f>
                  <c:strCache>
                    <c:ptCount val="1"/>
                    <c:pt idx="0">
                      <c:v>210
(26.42%)</c:v>
                    </c:pt>
                  </c:strCache>
                </c:strRef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{A7279F6F-5EBE-41E5-957A-A9810334031A}</c15:txfldGUID>
                      <c15:f>Sheet1!$G$2</c15:f>
                      <c15:dlblFieldTableCache>
                        <c:ptCount val="1"/>
                        <c:pt idx="0">
                          <c:v>210
(26.42%)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BD4D-4A2E-9F0F-F28A8A00B0DB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noAutofit/>
              </a:bodyPr>
              <a:lstStyle/>
              <a:p>
                <a:pPr algn="ctr">
                  <a:defRPr lang="en-US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tx>
                <c:strRef>
                  <c:f>Sheet1!$H$2</c:f>
                  <c:strCache>
                    <c:ptCount val="1"/>
                    <c:pt idx="0">
                      <c:v>190
(23.9%)</c:v>
                    </c:pt>
                  </c:strCache>
                </c:strRef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{C3C8E898-62DD-4250-84F9-A24776FDA5C5}</c15:txfldGUID>
                      <c15:f>Sheet1!$H$2</c15:f>
                      <c15:dlblFieldTableCache>
                        <c:ptCount val="1"/>
                        <c:pt idx="0">
                          <c:v>190
(23.9%)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BD4D-4A2E-9F0F-F28A8A00B0DB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noAutofit/>
              </a:bodyPr>
              <a:lstStyle/>
              <a:p>
                <a:pPr algn="ctr">
                  <a:defRPr lang="en-US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Product 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Quarterly Business Review</a:t>
            </a:r>
            <a:endParaRPr lang="en-IN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/>
              </a:rPr>
              <a:t>Hello New Title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82360">
                <a:tc gridSpan="2"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251830"/>
                  </a:ext>
                </a:extLst>
              </a:tr>
              <a:tr h="1836960">
                <a:tc gridSpan="2">
                  <a:txBody>
                    <a:bodyPr/>
                    <a:lstStyle/>
                    <a:p>
                      <a:r>
                        <a:rPr lang="en-IN" dirty="0"/>
                        <a:t>Alice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final implementation should allow users to build highly visual dashboards and reports.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075444"/>
                  </a:ext>
                </a:extLst>
              </a:tr>
              <a:tr h="382360">
                <a:tc gridSpan="2">
                  <a:txBody>
                    <a:bodyPr/>
                    <a:lstStyle/>
                    <a:p>
                      <a:r>
                        <a:rPr lang="en-IN" dirty="0"/>
                        <a:t>Bob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055280"/>
                  </a:ext>
                </a:extLst>
              </a:tr>
              <a:tr h="382360">
                <a:tc rowSpan="2">
                  <a:txBody>
                    <a:bodyPr/>
                    <a:lstStyle/>
                    <a:p>
                      <a:r>
                        <a:rPr lang="en-IN" dirty="0"/>
                        <a:t>Bob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>    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270851"/>
                  </a:ext>
                </a:extLst>
              </a:tr>
              <a:tr h="382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3967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1847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8236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166846"/>
                  </a:ext>
                </a:extLst>
              </a:tr>
              <a:tr h="38236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Alice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33019"/>
                  </a:ext>
                </a:extLst>
              </a:tr>
              <a:tr h="382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Designer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295170"/>
                  </a:ext>
                </a:extLst>
              </a:tr>
            </a:tbl>
          </a:graphicData>
        </a:graphic>
      </p:graphicFrame>
      <p:sp>
        <p:nvSpPr>
          <p:cNvPr id="8" name="cellshape_Table_2_2_0"/>
          <p:cNvSpPr/>
          <p:nvPr/>
        </p:nvSpPr>
        <p:spPr>
          <a:xfrm>
            <a:off x="5143500" y="4167188"/>
            <a:ext cx="238125" cy="142875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cellshape_Table2_1_2_0"/>
          <p:cNvSpPr/>
          <p:nvPr/>
        </p:nvSpPr>
        <p:spPr>
          <a:xfrm>
            <a:off x="5143500" y="5553075"/>
            <a:ext cx="238125" cy="142875"/>
          </a:xfrm>
          <a:prstGeom prst="rect">
            <a:avLst/>
          </a:prstGeom>
          <a:solidFill>
            <a:srgbClr val="10B981"/>
          </a:solidFill>
        </p:spPr>
      </p:sp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2408187" y="5405605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408187" y="3763760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2408187" y="1913793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2478037" y="103505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lvl="0" indent="-228600">
              <a:buChar char="•"/>
            </a:pPr>
            <a:r>
              <a:t>Fast PPTX generation</a:t>
            </a:r>
          </a:p>
          <a:p>
            <a:pPr marL="381000" lvl="0" indent="-228600">
              <a:buChar char="•"/>
            </a:pPr>
            <a:r>
              <a:t>OpenXML based</a:t>
            </a:r>
          </a:p>
          <a:p>
            <a:pPr marL="381000" lvl="0" indent="-228600">
              <a:buChar char="•"/>
            </a:pPr>
            <a:r>
              <a:t>Chart updates</a:t>
            </a:r>
          </a:p>
          <a:p>
            <a:pPr marL="381000" lvl="0" indent="-228600">
              <a:buChar char="•"/>
            </a:pPr>
            <a:r>
              <a:t>Table updates</a:t>
            </a:r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69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Quarterly Business Review</vt:lpstr>
      <vt:lpstr>Hello New Title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43</cp:revision>
  <dcterms:created xsi:type="dcterms:W3CDTF">2026-05-13T11:34:25Z</dcterms:created>
  <dcterms:modified xsi:type="dcterms:W3CDTF">2026-06-11T19:11:36Z</dcterms:modified>
</cp:coreProperties>
</file>